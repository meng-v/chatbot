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7"/>
    <p:restoredTop sz="94604"/>
  </p:normalViewPr>
  <p:slideViewPr>
    <p:cSldViewPr snapToGrid="0" snapToObjects="1">
      <p:cViewPr varScale="1">
        <p:scale>
          <a:sx n="193" d="100"/>
          <a:sy n="193" d="100"/>
        </p:scale>
        <p:origin x="83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A5092-8F39-1F44-8C46-D283805820F6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80700F-747B-A649-829E-49080C41F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40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lang="en-US" sz="1200" b="0" i="0" dirty="0">
                <a:solidFill>
                  <a:srgbClr val="5D6673"/>
                </a:solidFill>
                <a:latin typeface="+mn-lt"/>
              </a:rPr>
              <a:t>Measured 2026-08-05 over 234 graded questions. The test set is built to be hard, so real student traffic should cost less than this, not more.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lang="en-US" sz="1200" b="0" i="0" dirty="0">
                <a:solidFill>
                  <a:srgbClr val="5D6673"/>
                </a:solidFill>
                <a:latin typeface="+mn-lt"/>
              </a:rPr>
              <a:t>Both triggers run at once, so a slow month-long creep and a single runaway afternoon are each caught. Level 4 has no daily trigger on purpose — one expensive day must never take the service away for the rest of the month.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lang="en-US" sz="1200" b="0" i="0" dirty="0">
                <a:solidFill>
                  <a:srgbClr val="5D6673"/>
                </a:solidFill>
                <a:latin typeface="+mn-lt"/>
              </a:rPr>
              <a:t>Thresholds shown against the $95 student purse. The service is configured for $25 today, with the remaining $75 still my testing, so the live dashboard reads $17.50 / $21.25 / $23.75 / $25.00 for the same four steps until the switch.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0700F-747B-A649-829E-49080C41F7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786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hatbot.lib.miamioh.edu/admin/?key=6a123d3b4366f74a9d063676de5c348d2de42cf658d0c50b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14255" y="384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6A0AD"/>
                </a:solidFill>
                <a:latin typeface="Consolas"/>
              </a:rPr>
              <a:t>01  ·  1:15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B4122A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88575" cy="58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 dirty="0">
                <a:solidFill>
                  <a:srgbClr val="16181C"/>
                </a:solidFill>
                <a:latin typeface="Aptos"/>
              </a:rPr>
              <a:t>Students ask after </a:t>
            </a:r>
            <a:r>
              <a:rPr lang="en-US" sz="3400" b="1" i="0" dirty="0">
                <a:solidFill>
                  <a:srgbClr val="16181C"/>
                </a:solidFill>
                <a:latin typeface="Aptos"/>
              </a:rPr>
              <a:t>librarians are offline</a:t>
            </a:r>
            <a:r>
              <a:rPr sz="3400" b="1" i="0" dirty="0">
                <a:solidFill>
                  <a:srgbClr val="16181C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37215" cy="171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600" b="1" dirty="0">
                <a:solidFill>
                  <a:srgbClr val="16181C"/>
                </a:solidFill>
                <a:latin typeface="Aptos"/>
              </a:rPr>
              <a:t>Summer:</a:t>
            </a:r>
            <a:r>
              <a:rPr sz="1600" dirty="0">
                <a:solidFill>
                  <a:srgbClr val="5D6673"/>
                </a:solidFill>
                <a:latin typeface="Aptos"/>
              </a:rPr>
              <a:t>  the last librarian leaves at 6pm. The next one arrives at 9am</a:t>
            </a:r>
            <a:r>
              <a:rPr lang="en-US" sz="1600" dirty="0">
                <a:solidFill>
                  <a:srgbClr val="5D6673"/>
                </a:solidFill>
                <a:latin typeface="Aptos"/>
              </a:rPr>
              <a:t> on weekdays.</a:t>
            </a:r>
            <a:endParaRPr sz="1600" dirty="0">
              <a:solidFill>
                <a:srgbClr val="5D6673"/>
              </a:solidFill>
              <a:latin typeface="Aptos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600" b="1" dirty="0">
                <a:solidFill>
                  <a:srgbClr val="16181C"/>
                </a:solidFill>
                <a:latin typeface="Aptos"/>
              </a:rPr>
              <a:t>That is 15 hours a day</a:t>
            </a:r>
            <a:r>
              <a:rPr sz="1600" dirty="0">
                <a:solidFill>
                  <a:srgbClr val="5D6673"/>
                </a:solidFill>
                <a:latin typeface="Aptos"/>
              </a:rPr>
              <a:t>  with nobody to answer — plus every weekend and holiday.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US" sz="1600" b="1" dirty="0">
                <a:solidFill>
                  <a:srgbClr val="16181C"/>
                </a:solidFill>
                <a:latin typeface="Aptos"/>
              </a:rPr>
              <a:t>Some</a:t>
            </a:r>
            <a:r>
              <a:rPr sz="1600" b="1" dirty="0">
                <a:solidFill>
                  <a:srgbClr val="16181C"/>
                </a:solidFill>
                <a:latin typeface="Aptos"/>
              </a:rPr>
              <a:t> questions are </a:t>
            </a:r>
            <a:r>
              <a:rPr lang="en-US" sz="1600" b="1" dirty="0">
                <a:solidFill>
                  <a:srgbClr val="16181C"/>
                </a:solidFill>
                <a:latin typeface="Aptos"/>
              </a:rPr>
              <a:t>very stringboard</a:t>
            </a:r>
            <a:r>
              <a:rPr sz="1600" b="1" dirty="0">
                <a:solidFill>
                  <a:srgbClr val="16181C"/>
                </a:solidFill>
                <a:latin typeface="Aptos"/>
              </a:rPr>
              <a:t>.</a:t>
            </a:r>
            <a:r>
              <a:rPr sz="1600" dirty="0">
                <a:solidFill>
                  <a:srgbClr val="5D6673"/>
                </a:solidFill>
                <a:latin typeface="Aptos"/>
              </a:rPr>
              <a:t>  H</a:t>
            </a:r>
            <a:r>
              <a:rPr lang="en-US" sz="1600" dirty="0">
                <a:solidFill>
                  <a:srgbClr val="5D6673"/>
                </a:solidFill>
                <a:latin typeface="Aptos"/>
              </a:rPr>
              <a:t>ow to get Adobe. How to access NYT. Who should I contact.</a:t>
            </a:r>
            <a:endParaRPr sz="1600" dirty="0">
              <a:solidFill>
                <a:srgbClr val="5D6673"/>
              </a:solidFill>
              <a:latin typeface="Aptos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US" sz="1600" b="1" dirty="0">
                <a:solidFill>
                  <a:srgbClr val="16181C"/>
                </a:solidFill>
                <a:latin typeface="Aptos"/>
              </a:rPr>
              <a:t>Wendy asked a question at 11pm, </a:t>
            </a:r>
            <a:r>
              <a:rPr sz="1600" dirty="0">
                <a:solidFill>
                  <a:srgbClr val="5D6673"/>
                </a:solidFill>
                <a:latin typeface="Aptos"/>
              </a:rPr>
              <a:t>and today </a:t>
            </a:r>
            <a:r>
              <a:rPr lang="en-US" sz="1600" dirty="0">
                <a:solidFill>
                  <a:srgbClr val="5D6673"/>
                </a:solidFill>
                <a:latin typeface="Aptos"/>
              </a:rPr>
              <a:t>she</a:t>
            </a:r>
            <a:r>
              <a:rPr sz="1600" dirty="0">
                <a:solidFill>
                  <a:srgbClr val="5D6673"/>
                </a:solidFill>
                <a:latin typeface="Aptos"/>
              </a:rPr>
              <a:t> go</a:t>
            </a:r>
            <a:r>
              <a:rPr lang="en-US" sz="1600" dirty="0">
                <a:solidFill>
                  <a:srgbClr val="5D6673"/>
                </a:solidFill>
                <a:latin typeface="Aptos"/>
              </a:rPr>
              <a:t>es</a:t>
            </a:r>
            <a:r>
              <a:rPr sz="1600" dirty="0">
                <a:solidFill>
                  <a:srgbClr val="5D6673"/>
                </a:solidFill>
                <a:latin typeface="Aptos"/>
              </a:rPr>
              <a:t> unanswered until morning.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59552"/>
            <a:ext cx="10637215" cy="613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5D6673"/>
                </a:solidFill>
                <a:latin typeface="Aptos"/>
              </a:rPr>
              <a:t>The answers were already on our website</a:t>
            </a:r>
            <a:r>
              <a:rPr sz="1400" dirty="0">
                <a:solidFill>
                  <a:srgbClr val="5D6673"/>
                </a:solidFill>
                <a:latin typeface="Aptos"/>
              </a:rPr>
              <a:t>. </a:t>
            </a:r>
            <a:r>
              <a:rPr lang="en-US" sz="1400" b="1" dirty="0">
                <a:solidFill>
                  <a:srgbClr val="16181C"/>
                </a:solidFill>
                <a:latin typeface="Aptos"/>
              </a:rPr>
              <a:t>None needs professional judgement.</a:t>
            </a:r>
            <a:r>
              <a:rPr lang="en-US" sz="1400" b="1" dirty="0">
                <a:solidFill>
                  <a:srgbClr val="5D6673"/>
                </a:solidFill>
                <a:latin typeface="Aptos"/>
              </a:rPr>
              <a:t> </a:t>
            </a:r>
            <a:r>
              <a:rPr lang="en-US" sz="1400" dirty="0">
                <a:solidFill>
                  <a:srgbClr val="5D6673"/>
                </a:solidFill>
                <a:latin typeface="Aptos"/>
              </a:rPr>
              <a:t>All of them cost staff time — or cost us a student who stopped asking.</a:t>
            </a:r>
            <a:endParaRPr sz="1400" dirty="0">
              <a:solidFill>
                <a:srgbClr val="5D66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14255" y="384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6A0AD"/>
                </a:solidFill>
                <a:latin typeface="Consolas"/>
              </a:rPr>
              <a:t>02  ·  1:15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64008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 dirty="0">
                <a:solidFill>
                  <a:srgbClr val="B4122A"/>
                </a:solidFill>
                <a:latin typeface="Consolas"/>
              </a:rPr>
              <a:t>S</a:t>
            </a:r>
            <a:r>
              <a:rPr lang="en-US" sz="1150" b="1" i="0" dirty="0">
                <a:solidFill>
                  <a:srgbClr val="B4122A"/>
                </a:solidFill>
                <a:latin typeface="Consolas"/>
              </a:rPr>
              <a:t>OLUTION</a:t>
            </a:r>
            <a:endParaRPr sz="1150" b="1" i="0" dirty="0">
              <a:solidFill>
                <a:srgbClr val="B4122A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88575" cy="58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US" sz="3400" b="1" dirty="0">
                <a:solidFill>
                  <a:srgbClr val="16181C"/>
                </a:solidFill>
                <a:latin typeface="Aptos"/>
              </a:rPr>
              <a:t>An AI bot</a:t>
            </a:r>
            <a:r>
              <a:rPr sz="3400" b="1" i="0" dirty="0">
                <a:solidFill>
                  <a:srgbClr val="16181C"/>
                </a:solidFill>
                <a:latin typeface="Aptos"/>
              </a:rPr>
              <a:t> answers what the website already says.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dirty="0">
                <a:solidFill>
                  <a:srgbClr val="1C6244"/>
                </a:solidFill>
                <a:latin typeface="Consolas"/>
              </a:rPr>
              <a:t>IT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5120640" cy="1788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1" dirty="0">
                <a:solidFill>
                  <a:srgbClr val="16181C"/>
                </a:solidFill>
                <a:latin typeface="Aptos"/>
              </a:rPr>
              <a:t>Hours</a:t>
            </a:r>
            <a:r>
              <a:rPr sz="1350" dirty="0">
                <a:solidFill>
                  <a:srgbClr val="5D6673"/>
                </a:solidFill>
                <a:latin typeface="Aptos"/>
              </a:rPr>
              <a:t>  — live </a:t>
            </a:r>
            <a:r>
              <a:rPr lang="en-US" sz="1350" dirty="0">
                <a:solidFill>
                  <a:srgbClr val="5D6673"/>
                </a:solidFill>
                <a:latin typeface="Aptos"/>
              </a:rPr>
              <a:t>data </a:t>
            </a:r>
            <a:r>
              <a:rPr sz="1350" dirty="0">
                <a:solidFill>
                  <a:srgbClr val="5D6673"/>
                </a:solidFill>
                <a:latin typeface="Aptos"/>
              </a:rPr>
              <a:t>from </a:t>
            </a:r>
            <a:r>
              <a:rPr lang="en-US" sz="1350" dirty="0">
                <a:solidFill>
                  <a:srgbClr val="5D6673"/>
                </a:solidFill>
                <a:latin typeface="Aptos"/>
              </a:rPr>
              <a:t>Springshare</a:t>
            </a:r>
            <a:r>
              <a:rPr sz="1350" dirty="0">
                <a:solidFill>
                  <a:srgbClr val="5D6673"/>
                </a:solidFill>
                <a:latin typeface="Aptos"/>
              </a:rPr>
              <a:t>, including today's exceptions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 dirty="0">
                <a:solidFill>
                  <a:srgbClr val="16181C"/>
                </a:solidFill>
                <a:latin typeface="Aptos"/>
              </a:rPr>
              <a:t>Spaces</a:t>
            </a:r>
            <a:r>
              <a:rPr sz="1350" dirty="0">
                <a:solidFill>
                  <a:srgbClr val="5D6673"/>
                </a:solidFill>
                <a:latin typeface="Aptos"/>
              </a:rPr>
              <a:t>  — floors, study rooms, reading rooms, the Makerspace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 dirty="0">
                <a:solidFill>
                  <a:srgbClr val="16181C"/>
                </a:solidFill>
                <a:latin typeface="Aptos"/>
              </a:rPr>
              <a:t>Borrowing</a:t>
            </a:r>
            <a:r>
              <a:rPr sz="1350" dirty="0">
                <a:solidFill>
                  <a:srgbClr val="5D6673"/>
                </a:solidFill>
                <a:latin typeface="Aptos"/>
              </a:rPr>
              <a:t>  — loan periods, renewals, holds, interlibrary loan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 dirty="0">
                <a:solidFill>
                  <a:srgbClr val="16181C"/>
                </a:solidFill>
                <a:latin typeface="Aptos"/>
              </a:rPr>
              <a:t>Equipment</a:t>
            </a:r>
            <a:r>
              <a:rPr sz="1350" dirty="0">
                <a:solidFill>
                  <a:srgbClr val="5D6673"/>
                </a:solidFill>
                <a:latin typeface="Aptos"/>
              </a:rPr>
              <a:t>  — what you can check out and for how long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 dirty="0">
                <a:solidFill>
                  <a:srgbClr val="16181C"/>
                </a:solidFill>
                <a:latin typeface="Aptos"/>
              </a:rPr>
              <a:t>Who to ask</a:t>
            </a:r>
            <a:r>
              <a:rPr sz="1350" dirty="0">
                <a:solidFill>
                  <a:srgbClr val="5D6673"/>
                </a:solidFill>
                <a:latin typeface="Aptos"/>
              </a:rPr>
              <a:t>  — the subject librarian for your major, by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4122A"/>
                </a:solidFill>
                <a:latin typeface="Consolas"/>
              </a:rPr>
              <a:t>IT HANDS 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514600"/>
            <a:ext cx="4937760" cy="1788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 i="0" dirty="0">
                <a:solidFill>
                  <a:srgbClr val="5D6673"/>
                </a:solidFill>
                <a:latin typeface="Aptos"/>
              </a:rPr>
              <a:t>Anything requiring professional judgement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 dirty="0">
                <a:solidFill>
                  <a:srgbClr val="5D6673"/>
                </a:solidFill>
                <a:latin typeface="Aptos"/>
              </a:rPr>
              <a:t>Anything about </a:t>
            </a:r>
            <a:r>
              <a:rPr lang="en-US" sz="1350" b="0" i="0" dirty="0">
                <a:solidFill>
                  <a:srgbClr val="5D6673"/>
                </a:solidFill>
                <a:latin typeface="Aptos"/>
              </a:rPr>
              <a:t>personal account (Library Account)</a:t>
            </a:r>
            <a:endParaRPr sz="1350" b="0" i="0" dirty="0">
              <a:solidFill>
                <a:srgbClr val="5D6673"/>
              </a:solidFill>
              <a:latin typeface="Aptos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 dirty="0">
                <a:solidFill>
                  <a:srgbClr val="5D6673"/>
                </a:solidFill>
                <a:latin typeface="Aptos"/>
              </a:rPr>
              <a:t>Anything not </a:t>
            </a:r>
            <a:r>
              <a:rPr lang="en-US" sz="1350" b="0" i="0" dirty="0">
                <a:solidFill>
                  <a:srgbClr val="5D6673"/>
                </a:solidFill>
                <a:latin typeface="Aptos"/>
              </a:rPr>
              <a:t>retrievable from the website</a:t>
            </a:r>
            <a:endParaRPr sz="1350" b="0" i="0" dirty="0">
              <a:solidFill>
                <a:srgbClr val="5D6673"/>
              </a:solidFill>
              <a:latin typeface="Aptos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 dirty="0">
                <a:solidFill>
                  <a:srgbClr val="5D6673"/>
                </a:solidFill>
                <a:latin typeface="Aptos"/>
              </a:rPr>
              <a:t>Research strategy, citations, source evaluation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0" i="0" dirty="0">
                <a:solidFill>
                  <a:srgbClr val="5D6673"/>
                </a:solidFill>
                <a:latin typeface="Aptos"/>
              </a:rPr>
              <a:t>Anything it </a:t>
            </a:r>
            <a:r>
              <a:rPr lang="en-US" sz="1350" b="0" i="0" dirty="0">
                <a:solidFill>
                  <a:srgbClr val="5D6673"/>
                </a:solidFill>
                <a:latin typeface="Aptos"/>
              </a:rPr>
              <a:t>does not have a reliable source for</a:t>
            </a:r>
            <a:endParaRPr sz="1350" b="0" i="0" dirty="0">
              <a:solidFill>
                <a:srgbClr val="5D667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5559552"/>
            <a:ext cx="10637215" cy="344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dirty="0">
                <a:solidFill>
                  <a:srgbClr val="5D6673"/>
                </a:solidFill>
                <a:latin typeface="Aptos"/>
              </a:rPr>
              <a:t>The boundary is deliberate. </a:t>
            </a:r>
            <a:r>
              <a:rPr sz="1400" b="1" dirty="0">
                <a:solidFill>
                  <a:srgbClr val="16181C"/>
                </a:solidFill>
                <a:latin typeface="Aptos"/>
              </a:rPr>
              <a:t>It is a</a:t>
            </a:r>
            <a:r>
              <a:rPr lang="en-US" sz="1400" b="1" dirty="0">
                <a:solidFill>
                  <a:srgbClr val="16181C"/>
                </a:solidFill>
                <a:latin typeface="Aptos"/>
              </a:rPr>
              <a:t> virtual</a:t>
            </a:r>
            <a:r>
              <a:rPr sz="1400" b="1" dirty="0">
                <a:solidFill>
                  <a:srgbClr val="16181C"/>
                </a:solidFill>
                <a:latin typeface="Aptos"/>
              </a:rPr>
              <a:t> front desk after hours, not a librarian</a:t>
            </a:r>
            <a:r>
              <a:rPr sz="1400" dirty="0">
                <a:solidFill>
                  <a:srgbClr val="5D6673"/>
                </a:solidFill>
                <a:latin typeface="Aptos"/>
              </a:rPr>
              <a:t> — and it never pretends otherwise.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14255" y="384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6A0AD"/>
                </a:solidFill>
                <a:latin typeface="Consolas"/>
              </a:rPr>
              <a:t>03  ·  1:30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B4122A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885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6181C"/>
                </a:solidFill>
                <a:latin typeface="Aptos"/>
              </a:rPr>
              <a:t>Two live systems and one copy of our own website.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94560"/>
            <a:ext cx="2467279" cy="1371600"/>
          </a:xfrm>
          <a:prstGeom prst="rect">
            <a:avLst/>
          </a:prstGeom>
          <a:solidFill>
            <a:srgbClr val="EEEEEC"/>
          </a:solidFill>
          <a:ln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>
              <a:spcAft>
                <a:spcPts val="200"/>
              </a:spcAft>
            </a:pPr>
            <a:r>
              <a:rPr sz="3000" b="1" i="0" dirty="0">
                <a:solidFill>
                  <a:srgbClr val="16181C"/>
                </a:solidFill>
                <a:latin typeface="Consolas"/>
              </a:rPr>
              <a:t>LibCal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0" i="0" dirty="0">
                <a:solidFill>
                  <a:srgbClr val="5D6673"/>
                </a:solidFill>
                <a:latin typeface="Aptos"/>
              </a:rPr>
              <a:t>Hours and room bookings, read live at the moment of asking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500551" y="2194560"/>
            <a:ext cx="2467279" cy="1371600"/>
          </a:xfrm>
          <a:prstGeom prst="rect">
            <a:avLst/>
          </a:prstGeom>
          <a:solidFill>
            <a:srgbClr val="EEEEEC"/>
          </a:solidFill>
          <a:ln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6181C"/>
                </a:solidFill>
                <a:latin typeface="Consolas"/>
              </a:rPr>
              <a:t>LibAnswers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D6673"/>
                </a:solidFill>
                <a:latin typeface="Aptos"/>
              </a:rPr>
              <a:t>Our existing ask-a-librarian queue, for handover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23862" y="2194560"/>
            <a:ext cx="2467279" cy="1371600"/>
          </a:xfrm>
          <a:prstGeom prst="rect">
            <a:avLst/>
          </a:prstGeom>
          <a:solidFill>
            <a:srgbClr val="EEEEEC"/>
          </a:solidFill>
          <a:ln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6181C"/>
                </a:solidFill>
                <a:latin typeface="Consolas"/>
              </a:rPr>
              <a:t>95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D6673"/>
                </a:solidFill>
                <a:latin typeface="Aptos"/>
              </a:rPr>
              <a:t>pages of lib.miamioh.edu, indexed as 174 searchable passages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47173" y="2194560"/>
            <a:ext cx="2467279" cy="1371600"/>
          </a:xfrm>
          <a:prstGeom prst="rect">
            <a:avLst/>
          </a:prstGeom>
          <a:solidFill>
            <a:srgbClr val="EEEEEC"/>
          </a:solidFill>
          <a:ln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6181C"/>
                </a:solidFill>
                <a:latin typeface="Consolas"/>
              </a:rPr>
              <a:t>74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D6673"/>
                </a:solidFill>
                <a:latin typeface="Aptos"/>
              </a:rPr>
              <a:t>librarians from the roster of record, never a name it assembled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637215" cy="77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 dirty="0">
                <a:solidFill>
                  <a:srgbClr val="16181C"/>
                </a:solidFill>
                <a:latin typeface="Aptos"/>
              </a:rPr>
              <a:t>The model never supplies a fact.</a:t>
            </a:r>
            <a:r>
              <a:rPr sz="1500" dirty="0">
                <a:solidFill>
                  <a:srgbClr val="5D6673"/>
                </a:solidFill>
                <a:latin typeface="Aptos"/>
              </a:rPr>
              <a:t>  It is given passages retrieved from our own pages and told to answer only from those.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US" sz="1500" b="1" dirty="0">
                <a:solidFill>
                  <a:srgbClr val="16181C"/>
                </a:solidFill>
                <a:latin typeface="Aptos"/>
              </a:rPr>
              <a:t>Live data</a:t>
            </a:r>
            <a:r>
              <a:rPr sz="1500" b="1" dirty="0">
                <a:solidFill>
                  <a:srgbClr val="16181C"/>
                </a:solidFill>
                <a:latin typeface="Aptos"/>
              </a:rPr>
              <a:t> are never remembered.</a:t>
            </a:r>
            <a:r>
              <a:rPr sz="1500" dirty="0">
                <a:solidFill>
                  <a:srgbClr val="5D6673"/>
                </a:solidFill>
                <a:latin typeface="Aptos"/>
              </a:rPr>
              <a:t>  Every hours question is a fresh call to LibCal, because yesterday's answer is wrong today.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59552"/>
            <a:ext cx="10637215" cy="34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dirty="0">
                <a:solidFill>
                  <a:srgbClr val="16181C"/>
                </a:solidFill>
                <a:latin typeface="Aptos"/>
              </a:rPr>
              <a:t>The </a:t>
            </a:r>
            <a:r>
              <a:rPr lang="en-US" sz="1400" b="1" dirty="0">
                <a:solidFill>
                  <a:srgbClr val="16181C"/>
                </a:solidFill>
                <a:latin typeface="Aptos"/>
              </a:rPr>
              <a:t>data </a:t>
            </a:r>
            <a:r>
              <a:rPr sz="1400" b="1" dirty="0">
                <a:solidFill>
                  <a:srgbClr val="16181C"/>
                </a:solidFill>
                <a:latin typeface="Aptos"/>
              </a:rPr>
              <a:t>pool is our website, not the internet</a:t>
            </a:r>
            <a:r>
              <a:rPr sz="1400" dirty="0">
                <a:solidFill>
                  <a:srgbClr val="5D6673"/>
                </a:solidFill>
                <a:latin typeface="Aptos"/>
              </a:rPr>
              <a:t>. If our page does not say it, the bot does not know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14255" y="384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6A0AD"/>
                </a:solidFill>
                <a:latin typeface="Consolas"/>
              </a:rPr>
              <a:t>04  ·  1:45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64008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50" b="1" i="0" dirty="0">
                <a:solidFill>
                  <a:srgbClr val="B4122A"/>
                </a:solidFill>
                <a:latin typeface="Consolas"/>
              </a:rPr>
              <a:t>QUALITY &amp; </a:t>
            </a:r>
            <a:r>
              <a:rPr sz="1150" b="1" i="0" dirty="0">
                <a:solidFill>
                  <a:srgbClr val="B4122A"/>
                </a:solidFill>
                <a:latin typeface="Consolas"/>
              </a:rPr>
              <a:t>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885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6181C"/>
                </a:solidFill>
                <a:latin typeface="Aptos"/>
              </a:rPr>
              <a:t>It cannot invent a link, an email, or a name.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94560"/>
            <a:ext cx="2467279" cy="1371600"/>
          </a:xfrm>
          <a:prstGeom prst="rect">
            <a:avLst/>
          </a:prstGeom>
          <a:solidFill>
            <a:srgbClr val="EEEEEC"/>
          </a:solidFill>
          <a:ln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>
              <a:spcAft>
                <a:spcPts val="200"/>
              </a:spcAft>
            </a:pPr>
            <a:r>
              <a:rPr sz="3000" b="1" i="0" dirty="0">
                <a:solidFill>
                  <a:srgbClr val="B4122A"/>
                </a:solidFill>
                <a:latin typeface="Consolas"/>
              </a:rPr>
              <a:t>2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0" i="0" dirty="0">
                <a:solidFill>
                  <a:srgbClr val="5D6673"/>
                </a:solidFill>
                <a:latin typeface="Aptos"/>
              </a:rPr>
              <a:t>wrong answers out of </a:t>
            </a:r>
            <a:r>
              <a:rPr sz="1050" b="0" i="0" dirty="0">
                <a:solidFill>
                  <a:srgbClr val="C00000"/>
                </a:solidFill>
                <a:latin typeface="Aptos"/>
              </a:rPr>
              <a:t>234</a:t>
            </a:r>
            <a:r>
              <a:rPr sz="1050" b="0" i="0" dirty="0">
                <a:solidFill>
                  <a:srgbClr val="5D6673"/>
                </a:solidFill>
                <a:latin typeface="Aptos"/>
              </a:rPr>
              <a:t> graded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500551" y="2194560"/>
            <a:ext cx="2467279" cy="1371600"/>
          </a:xfrm>
          <a:prstGeom prst="rect">
            <a:avLst/>
          </a:prstGeom>
          <a:solidFill>
            <a:srgbClr val="EEEEEC"/>
          </a:solidFill>
          <a:ln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>
              <a:spcAft>
                <a:spcPts val="200"/>
              </a:spcAft>
            </a:pPr>
            <a:r>
              <a:rPr sz="3000" b="1" i="0" dirty="0">
                <a:solidFill>
                  <a:srgbClr val="16181C"/>
                </a:solidFill>
                <a:latin typeface="Consolas"/>
              </a:rPr>
              <a:t>0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0" i="0" dirty="0">
                <a:solidFill>
                  <a:srgbClr val="5D6673"/>
                </a:solidFill>
                <a:latin typeface="Aptos"/>
              </a:rPr>
              <a:t>facts the model is allowed to supply itself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6223862" y="2194560"/>
            <a:ext cx="2467279" cy="1371600"/>
          </a:xfrm>
          <a:prstGeom prst="rect">
            <a:avLst/>
          </a:prstGeom>
          <a:solidFill>
            <a:srgbClr val="EEEEEC"/>
          </a:solidFill>
          <a:ln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>
              <a:spcAft>
                <a:spcPts val="200"/>
              </a:spcAft>
            </a:pPr>
            <a:r>
              <a:rPr sz="3000" b="1" i="0" dirty="0">
                <a:solidFill>
                  <a:srgbClr val="16181C"/>
                </a:solidFill>
                <a:latin typeface="Consolas"/>
              </a:rPr>
              <a:t>1,</a:t>
            </a:r>
            <a:r>
              <a:rPr lang="en-US" sz="3000" b="1" i="0" dirty="0">
                <a:solidFill>
                  <a:srgbClr val="16181C"/>
                </a:solidFill>
                <a:latin typeface="Consolas"/>
              </a:rPr>
              <a:t>2</a:t>
            </a:r>
            <a:r>
              <a:rPr lang="en-US" sz="3000" b="1" dirty="0">
                <a:solidFill>
                  <a:srgbClr val="16181C"/>
                </a:solidFill>
                <a:latin typeface="Consolas"/>
              </a:rPr>
              <a:t>02</a:t>
            </a:r>
            <a:endParaRPr sz="3000" b="1" i="0" dirty="0">
              <a:solidFill>
                <a:srgbClr val="16181C"/>
              </a:solidFill>
              <a:latin typeface="Consolas"/>
            </a:endParaR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0" i="0" dirty="0">
                <a:solidFill>
                  <a:srgbClr val="5D6673"/>
                </a:solidFill>
                <a:latin typeface="Aptos"/>
              </a:rPr>
              <a:t>automated tests, run before every change ships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47173" y="2194560"/>
            <a:ext cx="2467279" cy="1371600"/>
          </a:xfrm>
          <a:prstGeom prst="rect">
            <a:avLst/>
          </a:prstGeom>
          <a:solidFill>
            <a:srgbClr val="EEEEEC"/>
          </a:solidFill>
          <a:ln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6181C"/>
                </a:solidFill>
                <a:latin typeface="Consolas"/>
              </a:rPr>
              <a:t>74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D6673"/>
                </a:solidFill>
                <a:latin typeface="Aptos"/>
              </a:rPr>
              <a:t>librarians, from the roster — never assembled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06372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1" dirty="0">
                <a:solidFill>
                  <a:srgbClr val="16181C"/>
                </a:solidFill>
                <a:latin typeface="Aptos"/>
              </a:rPr>
              <a:t>Every citation comes from the retrieved page,</a:t>
            </a:r>
            <a:r>
              <a:rPr sz="1350" dirty="0">
                <a:solidFill>
                  <a:srgbClr val="5D6673"/>
                </a:solidFill>
                <a:latin typeface="Aptos"/>
              </a:rPr>
              <a:t>  not from the model.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50" b="1" dirty="0">
                <a:solidFill>
                  <a:srgbClr val="16181C"/>
                </a:solidFill>
                <a:latin typeface="Aptos"/>
              </a:rPr>
              <a:t>An uncited link in an answer voids the whole answer</a:t>
            </a:r>
            <a:r>
              <a:rPr sz="1350" dirty="0">
                <a:solidFill>
                  <a:srgbClr val="5D6673"/>
                </a:solidFill>
                <a:latin typeface="Aptos"/>
              </a:rPr>
              <a:t>  — the reply is withheld and the student gets a referral instead.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50" b="1" dirty="0">
                <a:solidFill>
                  <a:srgbClr val="16181C"/>
                </a:solidFill>
                <a:latin typeface="Aptos"/>
              </a:rPr>
              <a:t>Every email address must appear verbatim in the source</a:t>
            </a:r>
            <a:r>
              <a:rPr sz="1350" dirty="0">
                <a:solidFill>
                  <a:srgbClr val="5D6673"/>
                </a:solidFill>
                <a:latin typeface="Aptos"/>
              </a:rPr>
              <a:t>  before it can be printed.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50" b="1" dirty="0">
                <a:solidFill>
                  <a:srgbClr val="16181C"/>
                </a:solidFill>
                <a:latin typeface="Aptos"/>
              </a:rPr>
              <a:t>The index is rebuilt from the live site,</a:t>
            </a:r>
            <a:r>
              <a:rPr sz="1350" dirty="0">
                <a:solidFill>
                  <a:srgbClr val="5D6673"/>
                </a:solidFill>
                <a:latin typeface="Aptos"/>
              </a:rPr>
              <a:t>  and a librarian signs off before a rebuild goes into service.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59552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dirty="0">
                <a:solidFill>
                  <a:srgbClr val="5D6673"/>
                </a:solidFill>
                <a:latin typeface="Aptos"/>
              </a:rPr>
              <a:t>When we found our own scorecard was flattering us, </a:t>
            </a:r>
            <a:r>
              <a:rPr sz="1400" b="1" dirty="0">
                <a:solidFill>
                  <a:srgbClr val="16181C"/>
                </a:solidFill>
                <a:latin typeface="Aptos"/>
              </a:rPr>
              <a:t>the score went down 8.6 points and we kept the honest number</a:t>
            </a:r>
            <a:r>
              <a:rPr sz="1400" dirty="0">
                <a:solidFill>
                  <a:srgbClr val="5D6673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14255" y="384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6A0AD"/>
                </a:solidFill>
                <a:latin typeface="Consolas"/>
              </a:rPr>
              <a:t>05  ·  1:45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64008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50" b="1" i="0" dirty="0">
                <a:solidFill>
                  <a:srgbClr val="B4122A"/>
                </a:solidFill>
                <a:latin typeface="Consolas"/>
              </a:rPr>
              <a:t>VERIFICATIONS &amp; USER TESTS</a:t>
            </a:r>
            <a:endParaRPr sz="1150" b="1" i="0" dirty="0">
              <a:solidFill>
                <a:srgbClr val="B4122A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885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6181C"/>
                </a:solidFill>
                <a:latin typeface="Aptos"/>
              </a:rPr>
              <a:t>Machines, librarians, students.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40280"/>
            <a:ext cx="10637215" cy="868680"/>
          </a:xfrm>
          <a:prstGeom prst="rect">
            <a:avLst/>
          </a:prstGeom>
          <a:solidFill>
            <a:srgbClr val="EEEEEC"/>
          </a:solidFill>
          <a:ln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spcAft>
                <a:spcPts val="100"/>
              </a:spcAft>
            </a:pPr>
            <a:r>
              <a:rPr sz="1500" b="1" i="0" dirty="0">
                <a:solidFill>
                  <a:srgbClr val="16181C"/>
                </a:solidFill>
                <a:latin typeface="Aptos"/>
              </a:rPr>
              <a:t>Automated</a:t>
            </a:r>
          </a:p>
          <a:p>
            <a:pPr>
              <a:spcAft>
                <a:spcPts val="0"/>
              </a:spcAft>
            </a:pPr>
            <a:r>
              <a:rPr sz="1100" b="0" i="0" dirty="0">
                <a:solidFill>
                  <a:srgbClr val="5D6673"/>
                </a:solidFill>
                <a:latin typeface="Aptos"/>
              </a:rPr>
              <a:t>234 questions written and approved by </a:t>
            </a:r>
            <a:r>
              <a:rPr lang="en-US" sz="1100" dirty="0">
                <a:solidFill>
                  <a:srgbClr val="5D6673"/>
                </a:solidFill>
                <a:latin typeface="Aptos"/>
              </a:rPr>
              <a:t>a librarian</a:t>
            </a:r>
            <a:r>
              <a:rPr sz="1100" b="0" i="0" dirty="0">
                <a:solidFill>
                  <a:srgbClr val="5D6673"/>
                </a:solidFill>
                <a:latin typeface="Aptos"/>
              </a:rPr>
              <a:t>.</a:t>
            </a:r>
            <a:r>
              <a:rPr lang="en-US" sz="1100" b="0" i="0" dirty="0">
                <a:solidFill>
                  <a:srgbClr val="5D6673"/>
                </a:solidFill>
                <a:latin typeface="Aptos"/>
              </a:rPr>
              <a:t> AI ran 1,202 questions with grades (correct/ partial/ wrong)</a:t>
            </a:r>
            <a:endParaRPr sz="1100" b="0" i="0" dirty="0">
              <a:solidFill>
                <a:srgbClr val="5D667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99021" y="2468880"/>
            <a:ext cx="273255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lang="en-US" sz="1900" b="1" dirty="0">
                <a:solidFill>
                  <a:srgbClr val="16181C"/>
                </a:solidFill>
                <a:latin typeface="Consolas"/>
              </a:rPr>
              <a:t>5 times of whole run-off</a:t>
            </a:r>
            <a:endParaRPr sz="1900" b="1" i="0" dirty="0">
              <a:solidFill>
                <a:srgbClr val="16181C"/>
              </a:solidFill>
              <a:latin typeface="Consola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3273551"/>
            <a:ext cx="10637215" cy="868680"/>
          </a:xfrm>
          <a:prstGeom prst="rect">
            <a:avLst/>
          </a:prstGeom>
          <a:solidFill>
            <a:srgbClr val="EEEEEC"/>
          </a:solidFill>
          <a:ln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spcAft>
                <a:spcPts val="100"/>
              </a:spcAft>
            </a:pPr>
            <a:r>
              <a:rPr sz="1500" b="1" i="0" dirty="0">
                <a:solidFill>
                  <a:srgbClr val="16181C"/>
                </a:solidFill>
                <a:latin typeface="Aptos"/>
              </a:rPr>
              <a:t>Librarians</a:t>
            </a:r>
          </a:p>
          <a:p>
            <a:pPr>
              <a:spcAft>
                <a:spcPts val="0"/>
              </a:spcAft>
            </a:pPr>
            <a:r>
              <a:rPr lang="en-US" sz="1100" b="0" i="0" dirty="0">
                <a:solidFill>
                  <a:srgbClr val="5D6673"/>
                </a:solidFill>
                <a:latin typeface="Aptos"/>
              </a:rPr>
              <a:t>Kevin’s team have completed two runs of official tests.</a:t>
            </a:r>
            <a:endParaRPr sz="1100" b="0" i="0" dirty="0">
              <a:solidFill>
                <a:srgbClr val="5D667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85655" y="350215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900" b="1" i="0" dirty="0">
                <a:solidFill>
                  <a:srgbClr val="16181C"/>
                </a:solidFill>
                <a:latin typeface="Consolas"/>
              </a:rPr>
              <a:t>sign-off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306822"/>
            <a:ext cx="10637215" cy="868680"/>
          </a:xfrm>
          <a:prstGeom prst="rect">
            <a:avLst/>
          </a:prstGeom>
          <a:solidFill>
            <a:srgbClr val="EEEEEC"/>
          </a:solidFill>
          <a:ln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spcAft>
                <a:spcPts val="100"/>
              </a:spcAft>
            </a:pPr>
            <a:r>
              <a:rPr sz="1500" b="1" i="0" dirty="0">
                <a:solidFill>
                  <a:srgbClr val="16181C"/>
                </a:solidFill>
                <a:latin typeface="Aptos"/>
              </a:rPr>
              <a:t>Students, in person</a:t>
            </a:r>
          </a:p>
          <a:p>
            <a:pPr>
              <a:spcAft>
                <a:spcPts val="0"/>
              </a:spcAft>
            </a:pPr>
            <a:r>
              <a:rPr lang="en-US" sz="1100" dirty="0">
                <a:solidFill>
                  <a:srgbClr val="5D6673"/>
                </a:solidFill>
                <a:latin typeface="Aptos"/>
              </a:rPr>
              <a:t>4</a:t>
            </a:r>
            <a:r>
              <a:rPr sz="1100" b="0" i="0" dirty="0">
                <a:solidFill>
                  <a:srgbClr val="5D6673"/>
                </a:solidFill>
                <a:latin typeface="Aptos"/>
              </a:rPr>
              <a:t> students, </a:t>
            </a:r>
            <a:r>
              <a:rPr lang="en-US" sz="1100" b="0" i="0" dirty="0">
                <a:solidFill>
                  <a:srgbClr val="5D6673"/>
                </a:solidFill>
                <a:latin typeface="Aptos"/>
              </a:rPr>
              <a:t>10</a:t>
            </a:r>
            <a:r>
              <a:rPr sz="1100" b="0" i="0" dirty="0">
                <a:solidFill>
                  <a:srgbClr val="5D6673"/>
                </a:solidFill>
                <a:latin typeface="Aptos"/>
              </a:rPr>
              <a:t> questions each</a:t>
            </a:r>
            <a:r>
              <a:rPr lang="en-US" sz="1100" b="0" i="0" dirty="0">
                <a:solidFill>
                  <a:srgbClr val="5D6673"/>
                </a:solidFill>
                <a:latin typeface="Aptos"/>
              </a:rPr>
              <a:t> (plus 3 random questions)</a:t>
            </a:r>
            <a:r>
              <a:rPr sz="1100" b="0" i="0" dirty="0">
                <a:solidFill>
                  <a:srgbClr val="5D6673"/>
                </a:solidFill>
                <a:latin typeface="Aptos"/>
              </a:rPr>
              <a:t>, in perso</a:t>
            </a:r>
            <a:r>
              <a:rPr lang="en-US" sz="1100" b="0" i="0" dirty="0">
                <a:solidFill>
                  <a:srgbClr val="5D6673"/>
                </a:solidFill>
                <a:latin typeface="Aptos"/>
              </a:rPr>
              <a:t>n</a:t>
            </a:r>
            <a:endParaRPr sz="1100" b="0" i="0" dirty="0">
              <a:solidFill>
                <a:srgbClr val="5D6673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99021" y="4535422"/>
            <a:ext cx="273255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lang="en-US" sz="1900" b="1" dirty="0">
                <a:solidFill>
                  <a:srgbClr val="16181C"/>
                </a:solidFill>
                <a:latin typeface="Consolas"/>
              </a:rPr>
              <a:t>38/43 (88%) passed</a:t>
            </a:r>
            <a:endParaRPr sz="1900" b="1" i="0" dirty="0">
              <a:solidFill>
                <a:srgbClr val="16181C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5559552"/>
            <a:ext cx="10637215" cy="34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5D6673"/>
                </a:solidFill>
                <a:latin typeface="Aptos"/>
              </a:rPr>
              <a:t>The 5</a:t>
            </a:r>
            <a:r>
              <a:rPr sz="1400" dirty="0">
                <a:solidFill>
                  <a:srgbClr val="5D6673"/>
                </a:solidFill>
                <a:latin typeface="Aptos"/>
              </a:rPr>
              <a:t> objections the students raised, </a:t>
            </a:r>
            <a:r>
              <a:rPr sz="1400" b="1" dirty="0">
                <a:solidFill>
                  <a:srgbClr val="16181C"/>
                </a:solidFill>
                <a:latin typeface="Aptos"/>
              </a:rPr>
              <a:t>not one was a wrong fact</a:t>
            </a:r>
            <a:r>
              <a:rPr sz="1400" dirty="0">
                <a:solidFill>
                  <a:srgbClr val="5D6673"/>
                </a:solidFill>
                <a:latin typeface="Aptos"/>
              </a:rPr>
              <a:t>. Every </a:t>
            </a:r>
            <a:r>
              <a:rPr lang="en-US" sz="1400" dirty="0">
                <a:solidFill>
                  <a:srgbClr val="5D6673"/>
                </a:solidFill>
                <a:latin typeface="Aptos"/>
              </a:rPr>
              <a:t>question</a:t>
            </a:r>
            <a:r>
              <a:rPr sz="1400" dirty="0">
                <a:solidFill>
                  <a:srgbClr val="5D6673"/>
                </a:solidFill>
                <a:latin typeface="Aptos"/>
              </a:rPr>
              <a:t> was </a:t>
            </a:r>
            <a:r>
              <a:rPr lang="en-US" sz="1400" dirty="0">
                <a:solidFill>
                  <a:srgbClr val="5D6673"/>
                </a:solidFill>
                <a:latin typeface="Aptos"/>
              </a:rPr>
              <a:t>surface</a:t>
            </a:r>
            <a:r>
              <a:rPr sz="1400" dirty="0">
                <a:solidFill>
                  <a:srgbClr val="5D6673"/>
                </a:solidFill>
                <a:latin typeface="Aptos"/>
              </a:rPr>
              <a:t> — and all </a:t>
            </a:r>
            <a:r>
              <a:rPr lang="en-US" sz="1400" dirty="0">
                <a:solidFill>
                  <a:srgbClr val="5D6673"/>
                </a:solidFill>
                <a:latin typeface="Aptos"/>
              </a:rPr>
              <a:t>5</a:t>
            </a:r>
            <a:r>
              <a:rPr sz="1400" dirty="0">
                <a:solidFill>
                  <a:srgbClr val="5D6673"/>
                </a:solidFill>
                <a:latin typeface="Aptos"/>
              </a:rPr>
              <a:t> </a:t>
            </a:r>
            <a:r>
              <a:rPr lang="en-US" sz="1400" dirty="0">
                <a:solidFill>
                  <a:srgbClr val="5D6673"/>
                </a:solidFill>
                <a:latin typeface="Aptos"/>
              </a:rPr>
              <a:t>fixes applied</a:t>
            </a:r>
            <a:r>
              <a:rPr sz="1400" dirty="0">
                <a:solidFill>
                  <a:srgbClr val="5D6673"/>
                </a:solidFill>
                <a:latin typeface="Aptos"/>
              </a:rPr>
              <a:t> th</a:t>
            </a:r>
            <a:r>
              <a:rPr lang="en-US" sz="1400" dirty="0">
                <a:solidFill>
                  <a:srgbClr val="5D6673"/>
                </a:solidFill>
                <a:latin typeface="Aptos"/>
              </a:rPr>
              <a:t>is</a:t>
            </a:r>
            <a:r>
              <a:rPr sz="1400" dirty="0">
                <a:solidFill>
                  <a:srgbClr val="5D6673"/>
                </a:solidFill>
                <a:latin typeface="Aptos"/>
              </a:rPr>
              <a:t> week.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14255" y="384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6A0AD"/>
                </a:solidFill>
                <a:latin typeface="Consolas"/>
              </a:rPr>
              <a:t>06  ·  1:15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B4122A"/>
                </a:solidFill>
                <a:latin typeface="Consolas"/>
              </a:rPr>
              <a:t>WHEN IT CANNOT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88575" cy="58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 dirty="0">
                <a:solidFill>
                  <a:srgbClr val="16181C"/>
                </a:solidFill>
                <a:latin typeface="Aptos"/>
              </a:rPr>
              <a:t>It hands the student to </a:t>
            </a:r>
            <a:r>
              <a:rPr lang="en-US" sz="3400" b="1" dirty="0">
                <a:solidFill>
                  <a:srgbClr val="16181C"/>
                </a:solidFill>
                <a:latin typeface="Aptos"/>
              </a:rPr>
              <a:t>librarians</a:t>
            </a:r>
            <a:r>
              <a:rPr sz="3400" b="1" i="0" dirty="0">
                <a:solidFill>
                  <a:srgbClr val="16181C"/>
                </a:solidFill>
                <a:latin typeface="Aptos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40280"/>
            <a:ext cx="54864" cy="1371600"/>
          </a:xfrm>
          <a:prstGeom prst="rect">
            <a:avLst/>
          </a:prstGeom>
          <a:solidFill>
            <a:srgbClr val="B4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 i="1" dirty="0">
                <a:solidFill>
                  <a:srgbClr val="16181C"/>
                </a:solidFill>
                <a:latin typeface="Aptos"/>
              </a:rPr>
              <a:t>“Your subject librarians are Abigail Morgan and Erica Freed — with their email and direct phone number.”</a:t>
            </a:r>
          </a:p>
          <a:p>
            <a:pPr>
              <a:spcAft>
                <a:spcPts val="0"/>
              </a:spcAft>
            </a:pPr>
            <a:r>
              <a:rPr sz="1050" b="0" i="0" dirty="0">
                <a:solidFill>
                  <a:srgbClr val="96A0AD"/>
                </a:solidFill>
                <a:latin typeface="Aptos"/>
              </a:rPr>
              <a:t>An actual refusal, from the transcript.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10637215" cy="1209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 dirty="0">
                <a:solidFill>
                  <a:srgbClr val="16181C"/>
                </a:solidFill>
                <a:latin typeface="Aptos"/>
              </a:rPr>
              <a:t>It does not guess</a:t>
            </a:r>
            <a:r>
              <a:rPr lang="en-US" sz="1500" b="1" dirty="0">
                <a:solidFill>
                  <a:srgbClr val="16181C"/>
                </a:solidFill>
                <a:latin typeface="Aptos"/>
              </a:rPr>
              <a:t>, and it does refusal</a:t>
            </a:r>
            <a:r>
              <a:rPr sz="1500" b="1" dirty="0">
                <a:solidFill>
                  <a:srgbClr val="16181C"/>
                </a:solidFill>
                <a:latin typeface="Aptos"/>
              </a:rPr>
              <a:t>.</a:t>
            </a:r>
            <a:r>
              <a:rPr sz="1500" dirty="0">
                <a:solidFill>
                  <a:srgbClr val="5D6673"/>
                </a:solidFill>
                <a:latin typeface="Aptos"/>
              </a:rPr>
              <a:t>  No source, no answer.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00" b="1" dirty="0">
                <a:solidFill>
                  <a:srgbClr val="16181C"/>
                </a:solidFill>
                <a:latin typeface="Aptos"/>
              </a:rPr>
              <a:t>It </a:t>
            </a:r>
            <a:r>
              <a:rPr lang="en-US" sz="1500" b="1" dirty="0">
                <a:solidFill>
                  <a:srgbClr val="16181C"/>
                </a:solidFill>
                <a:latin typeface="Aptos"/>
              </a:rPr>
              <a:t>hands research questions to librarians. </a:t>
            </a:r>
            <a:r>
              <a:rPr lang="en-US" sz="1500" dirty="0">
                <a:solidFill>
                  <a:srgbClr val="5D6673"/>
                </a:solidFill>
                <a:latin typeface="Aptos"/>
              </a:rPr>
              <a:t>It stays in scope and let patron research out to librarians with warm reminder.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US" sz="1500" b="1" dirty="0">
                <a:solidFill>
                  <a:srgbClr val="16181C"/>
                </a:solidFill>
                <a:latin typeface="Aptos"/>
              </a:rPr>
              <a:t>It can open a ticket</a:t>
            </a:r>
            <a:r>
              <a:rPr lang="en-US" sz="1500" dirty="0">
                <a:solidFill>
                  <a:srgbClr val="5D6673"/>
                </a:solidFill>
                <a:latin typeface="Aptos"/>
              </a:rPr>
              <a:t>  in the queue librarians already watch. (After it launches to production)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59552"/>
            <a:ext cx="10637215" cy="34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400" b="1" dirty="0">
                <a:solidFill>
                  <a:srgbClr val="16181C"/>
                </a:solidFill>
                <a:latin typeface="Aptos"/>
              </a:rPr>
              <a:t>Submitting a ticket with AI-generated summaries is a time saving for librarians.</a:t>
            </a:r>
            <a:endParaRPr sz="1400" dirty="0">
              <a:solidFill>
                <a:srgbClr val="5D66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14255" y="384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6A0AD"/>
                </a:solidFill>
                <a:latin typeface="Consolas"/>
              </a:rPr>
              <a:t>07  ·  1:15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B4122A"/>
                </a:solidFill>
                <a:latin typeface="Consolas"/>
              </a:rPr>
              <a:t>FEEDBACK AND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88575" cy="58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 dirty="0">
                <a:solidFill>
                  <a:srgbClr val="16181C"/>
                </a:solidFill>
                <a:latin typeface="Aptos"/>
              </a:rPr>
              <a:t>Every wrong answer </a:t>
            </a:r>
            <a:r>
              <a:rPr lang="en-US" sz="3400" b="1" dirty="0">
                <a:solidFill>
                  <a:srgbClr val="16181C"/>
                </a:solidFill>
                <a:latin typeface="Aptos"/>
              </a:rPr>
              <a:t>can be checked by</a:t>
            </a:r>
            <a:r>
              <a:rPr sz="3400" b="1" i="0" dirty="0">
                <a:solidFill>
                  <a:srgbClr val="16181C"/>
                </a:solidFill>
                <a:latin typeface="Aptos"/>
              </a:rPr>
              <a:t> a librarian.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37215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16181C"/>
                </a:solidFill>
                <a:latin typeface="Aptos"/>
              </a:rPr>
              <a:t>A librarian reports it in one form.</a:t>
            </a:r>
            <a:r>
              <a:rPr sz="1500" dirty="0">
                <a:solidFill>
                  <a:srgbClr val="5D6673"/>
                </a:solidFill>
                <a:latin typeface="Aptos"/>
              </a:rPr>
              <a:t>  No login, no ticket system to learn — a code-gated page.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16181C"/>
                </a:solidFill>
                <a:latin typeface="Aptos"/>
              </a:rPr>
              <a:t>A correction is signed.</a:t>
            </a:r>
            <a:r>
              <a:rPr sz="1500" dirty="0">
                <a:solidFill>
                  <a:srgbClr val="5D6673"/>
                </a:solidFill>
                <a:latin typeface="Aptos"/>
              </a:rPr>
              <a:t>  It records who made it and why. No anonymous edits, ever.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16181C"/>
                </a:solidFill>
                <a:latin typeface="Aptos"/>
              </a:rPr>
              <a:t>A correction takes effect immediately</a:t>
            </a:r>
            <a:r>
              <a:rPr sz="1500" dirty="0">
                <a:solidFill>
                  <a:srgbClr val="5D6673"/>
                </a:solidFill>
                <a:latin typeface="Aptos"/>
              </a:rPr>
              <a:t>  — it does not wait for the next rebuild.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16181C"/>
                </a:solidFill>
                <a:latin typeface="Aptos"/>
              </a:rPr>
              <a:t>The site is re-crawled on a schedule,</a:t>
            </a:r>
            <a:r>
              <a:rPr sz="1500" dirty="0">
                <a:solidFill>
                  <a:srgbClr val="5D6673"/>
                </a:solidFill>
                <a:latin typeface="Aptos"/>
              </a:rPr>
              <a:t>  and pages that vanish are retired rather than silently kept.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16181C"/>
                </a:solidFill>
                <a:latin typeface="Aptos"/>
              </a:rPr>
              <a:t>I get a digest every weekday</a:t>
            </a:r>
            <a:r>
              <a:rPr sz="1500" dirty="0">
                <a:solidFill>
                  <a:srgbClr val="5D6673"/>
                </a:solidFill>
                <a:latin typeface="Aptos"/>
              </a:rPr>
              <a:t>  of what was asked and what was refused.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59552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181C"/>
                </a:solidFill>
                <a:latin typeface="Aptos"/>
              </a:rPr>
              <a:t>The people who own the content own the corrections</a:t>
            </a:r>
            <a:r>
              <a:rPr sz="1400">
                <a:solidFill>
                  <a:srgbClr val="5D6673"/>
                </a:solidFill>
                <a:latin typeface="Aptos"/>
              </a:rPr>
              <a:t>. That is the part I most want to survive my leave.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EAE463-A02A-F5BA-E708-D9CAB3316397}"/>
              </a:ext>
            </a:extLst>
          </p:cNvPr>
          <p:cNvSpPr txBox="1"/>
          <p:nvPr/>
        </p:nvSpPr>
        <p:spPr>
          <a:xfrm>
            <a:off x="777241" y="1605168"/>
            <a:ext cx="1916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 Dashboard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14255" y="384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6A0AD"/>
                </a:solidFill>
                <a:latin typeface="Consolas"/>
              </a:rPr>
              <a:t>08  ·  1:45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B4122A"/>
                </a:solidFill>
                <a:latin typeface="Consolas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88575" cy="1086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US" sz="3400" b="1" i="0" dirty="0">
                <a:solidFill>
                  <a:srgbClr val="16181C"/>
                </a:solidFill>
                <a:latin typeface="Aptos"/>
              </a:rPr>
              <a:t>What a question costs, </a:t>
            </a:r>
            <a:br>
              <a:rPr lang="en-US" sz="3400" b="1" i="0" dirty="0">
                <a:solidFill>
                  <a:srgbClr val="16181C"/>
                </a:solidFill>
                <a:latin typeface="Aptos"/>
              </a:rPr>
            </a:br>
            <a:r>
              <a:rPr lang="en-US" sz="3400" b="1" i="0" dirty="0">
                <a:solidFill>
                  <a:srgbClr val="16181C"/>
                </a:solidFill>
                <a:latin typeface="Aptos"/>
              </a:rPr>
              <a:t>and what happens as the money runs out.</a:t>
            </a:r>
            <a:endParaRPr sz="3400" b="1" i="0" dirty="0">
              <a:solidFill>
                <a:srgbClr val="16181C"/>
              </a:solidFill>
              <a:latin typeface="Apto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ECD510-6361-F11A-8CC0-BCD3A5AFC690}"/>
              </a:ext>
            </a:extLst>
          </p:cNvPr>
          <p:cNvSpPr/>
          <p:nvPr/>
        </p:nvSpPr>
        <p:spPr>
          <a:xfrm>
            <a:off x="777240" y="2164080"/>
            <a:ext cx="2549575" cy="896112"/>
          </a:xfrm>
          <a:prstGeom prst="rect">
            <a:avLst/>
          </a:prstGeom>
          <a:solidFill>
            <a:srgbClr val="EEEEEC"/>
          </a:solidFill>
          <a:ln w="9525"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75023E-FC16-46A2-8EBF-CCDF99557715}"/>
              </a:ext>
            </a:extLst>
          </p:cNvPr>
          <p:cNvSpPr txBox="1"/>
          <p:nvPr/>
        </p:nvSpPr>
        <p:spPr>
          <a:xfrm>
            <a:off x="905256" y="2228088"/>
            <a:ext cx="2293543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6181C"/>
                </a:solidFill>
                <a:latin typeface="Consolas"/>
              </a:rPr>
              <a:t>0.0041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5DBF86-1006-DBE4-1675-8669E7E3B637}"/>
              </a:ext>
            </a:extLst>
          </p:cNvPr>
          <p:cNvSpPr txBox="1"/>
          <p:nvPr/>
        </p:nvSpPr>
        <p:spPr>
          <a:xfrm>
            <a:off x="905256" y="2667000"/>
            <a:ext cx="2293543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D6673"/>
                </a:solidFill>
                <a:latin typeface="Aptos"/>
              </a:rPr>
              <a:t>per question asked, measured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1791BE-DEE3-F741-BCC5-FFDE3EAB6B9B}"/>
              </a:ext>
            </a:extLst>
          </p:cNvPr>
          <p:cNvSpPr/>
          <p:nvPr/>
        </p:nvSpPr>
        <p:spPr>
          <a:xfrm>
            <a:off x="3473119" y="2164080"/>
            <a:ext cx="2549575" cy="896112"/>
          </a:xfrm>
          <a:prstGeom prst="rect">
            <a:avLst/>
          </a:prstGeom>
          <a:solidFill>
            <a:srgbClr val="EEEEEC"/>
          </a:solidFill>
          <a:ln w="9525"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FC2389-47C3-3957-B50C-994DAAB7E7E9}"/>
              </a:ext>
            </a:extLst>
          </p:cNvPr>
          <p:cNvSpPr txBox="1"/>
          <p:nvPr/>
        </p:nvSpPr>
        <p:spPr>
          <a:xfrm>
            <a:off x="3601135" y="2228088"/>
            <a:ext cx="2293543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6181C"/>
                </a:solidFill>
                <a:latin typeface="Consolas"/>
              </a:rPr>
              <a:t>$100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AF51CF-E2C6-5DF5-DAE4-9339E307B312}"/>
              </a:ext>
            </a:extLst>
          </p:cNvPr>
          <p:cNvSpPr txBox="1"/>
          <p:nvPr/>
        </p:nvSpPr>
        <p:spPr>
          <a:xfrm>
            <a:off x="3601135" y="2667000"/>
            <a:ext cx="2293543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 dirty="0">
                <a:solidFill>
                  <a:srgbClr val="5D6673"/>
                </a:solidFill>
                <a:latin typeface="Aptos"/>
              </a:rPr>
              <a:t>a month ceiling — </a:t>
            </a:r>
            <a:r>
              <a:rPr sz="1050" b="1" i="0" dirty="0">
                <a:solidFill>
                  <a:srgbClr val="B4122A"/>
                </a:solidFill>
                <a:latin typeface="Aptos"/>
              </a:rPr>
              <a:t>$95 students, $5 for testing.</a:t>
            </a:r>
            <a:r>
              <a:rPr sz="1050" b="0" i="0" dirty="0">
                <a:solidFill>
                  <a:srgbClr val="5D6673"/>
                </a:solidFill>
                <a:latin typeface="Aptos"/>
              </a:rPr>
              <a:t> Starts on Sep 1</a:t>
            </a:r>
            <a:r>
              <a:rPr lang="en-US" sz="1050" b="0" i="0" baseline="30000" dirty="0">
                <a:solidFill>
                  <a:srgbClr val="5D6673"/>
                </a:solidFill>
                <a:latin typeface="Aptos"/>
              </a:rPr>
              <a:t>st</a:t>
            </a:r>
            <a:endParaRPr sz="1050" b="0" i="0" dirty="0">
              <a:solidFill>
                <a:srgbClr val="5D6673"/>
              </a:solidFill>
              <a:latin typeface="Apto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85E73E-E064-5FB7-D028-2FEC003EAFF9}"/>
              </a:ext>
            </a:extLst>
          </p:cNvPr>
          <p:cNvSpPr/>
          <p:nvPr/>
        </p:nvSpPr>
        <p:spPr>
          <a:xfrm>
            <a:off x="6168998" y="2164080"/>
            <a:ext cx="2549575" cy="896112"/>
          </a:xfrm>
          <a:prstGeom prst="rect">
            <a:avLst/>
          </a:prstGeom>
          <a:solidFill>
            <a:srgbClr val="EEEEEC"/>
          </a:solidFill>
          <a:ln w="9525"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95C593-0163-66BF-32A5-BAE4CD56CD41}"/>
              </a:ext>
            </a:extLst>
          </p:cNvPr>
          <p:cNvSpPr txBox="1"/>
          <p:nvPr/>
        </p:nvSpPr>
        <p:spPr>
          <a:xfrm>
            <a:off x="6297014" y="2264664"/>
            <a:ext cx="229354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6181C"/>
                </a:solidFill>
                <a:latin typeface="Consolas"/>
              </a:rPr>
              <a:t>~23,000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C6A6D9-C5A5-ACEC-4145-C40AAE1777E0}"/>
              </a:ext>
            </a:extLst>
          </p:cNvPr>
          <p:cNvSpPr txBox="1"/>
          <p:nvPr/>
        </p:nvSpPr>
        <p:spPr>
          <a:xfrm>
            <a:off x="6297014" y="2676144"/>
            <a:ext cx="229354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D6673"/>
                </a:solidFill>
                <a:latin typeface="Aptos"/>
              </a:rPr>
              <a:t>questions a month on $95, at the measured mix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C04D6D-AD1D-5B8F-309B-3492A93A20E7}"/>
              </a:ext>
            </a:extLst>
          </p:cNvPr>
          <p:cNvSpPr/>
          <p:nvPr/>
        </p:nvSpPr>
        <p:spPr>
          <a:xfrm>
            <a:off x="8864877" y="2164080"/>
            <a:ext cx="2549575" cy="896112"/>
          </a:xfrm>
          <a:prstGeom prst="rect">
            <a:avLst/>
          </a:prstGeom>
          <a:solidFill>
            <a:srgbClr val="EEEEEC"/>
          </a:solidFill>
          <a:ln w="9525"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9CB8B2-7CE8-1F86-3F7E-4A214431F2CA}"/>
              </a:ext>
            </a:extLst>
          </p:cNvPr>
          <p:cNvSpPr txBox="1"/>
          <p:nvPr/>
        </p:nvSpPr>
        <p:spPr>
          <a:xfrm>
            <a:off x="8992893" y="2264664"/>
            <a:ext cx="229354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C6244"/>
                </a:solidFill>
                <a:latin typeface="Consolas"/>
              </a:rPr>
              <a:t>4,600 – 7,700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70245C-0832-CA37-625E-B1766145E0B5}"/>
              </a:ext>
            </a:extLst>
          </p:cNvPr>
          <p:cNvSpPr txBox="1"/>
          <p:nvPr/>
        </p:nvSpPr>
        <p:spPr>
          <a:xfrm>
            <a:off x="8992893" y="2676144"/>
            <a:ext cx="229354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D6673"/>
                </a:solidFill>
                <a:latin typeface="Aptos"/>
              </a:rPr>
              <a:t>students a month, if each asks 3-5 questions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B23EA9-C878-8BE8-71FB-2D23024528D1}"/>
              </a:ext>
            </a:extLst>
          </p:cNvPr>
          <p:cNvSpPr txBox="1"/>
          <p:nvPr/>
        </p:nvSpPr>
        <p:spPr>
          <a:xfrm>
            <a:off x="777240" y="3206496"/>
            <a:ext cx="106372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4122A"/>
                </a:solidFill>
                <a:latin typeface="Consolas"/>
              </a:rPr>
              <a:t>WHERE THAT AVERAGE COMES FROM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5A0EBA-39C5-01DD-0F1C-CE87B2A2A977}"/>
              </a:ext>
            </a:extLst>
          </p:cNvPr>
          <p:cNvSpPr/>
          <p:nvPr/>
        </p:nvSpPr>
        <p:spPr>
          <a:xfrm>
            <a:off x="777240" y="3407664"/>
            <a:ext cx="254957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BCA19A-1961-C6AA-5EE0-4073E0FFFDBD}"/>
              </a:ext>
            </a:extLst>
          </p:cNvPr>
          <p:cNvSpPr txBox="1"/>
          <p:nvPr/>
        </p:nvSpPr>
        <p:spPr>
          <a:xfrm>
            <a:off x="886968" y="3489960"/>
            <a:ext cx="23301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6181C"/>
                </a:solidFill>
                <a:latin typeface="Aptos"/>
              </a:rPr>
              <a:t>126 of 234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E451AB-8179-B5D3-CAD1-865A9DE3C9C0}"/>
              </a:ext>
            </a:extLst>
          </p:cNvPr>
          <p:cNvSpPr txBox="1"/>
          <p:nvPr/>
        </p:nvSpPr>
        <p:spPr>
          <a:xfrm>
            <a:off x="886968" y="3489960"/>
            <a:ext cx="23301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 dirty="0">
                <a:solidFill>
                  <a:srgbClr val="1C6244"/>
                </a:solidFill>
                <a:latin typeface="Consolas"/>
              </a:rPr>
              <a:t>$0.000</a:t>
            </a:r>
            <a:r>
              <a:rPr lang="en-US" sz="1200" b="1" i="0" dirty="0">
                <a:solidFill>
                  <a:srgbClr val="1C6244"/>
                </a:solidFill>
                <a:latin typeface="Consolas"/>
              </a:rPr>
              <a:t>3</a:t>
            </a:r>
            <a:endParaRPr sz="1200" b="1" i="0" dirty="0">
              <a:solidFill>
                <a:srgbClr val="1C6244"/>
              </a:solidFill>
              <a:latin typeface="Consola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3D8E0B-258B-D4F5-72EA-46039547B7DF}"/>
              </a:ext>
            </a:extLst>
          </p:cNvPr>
          <p:cNvSpPr txBox="1"/>
          <p:nvPr/>
        </p:nvSpPr>
        <p:spPr>
          <a:xfrm>
            <a:off x="886968" y="3736848"/>
            <a:ext cx="2330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D6673"/>
                </a:solidFill>
                <a:latin typeface="Aptos"/>
              </a:rPr>
              <a:t>answered by a rule — hours, rooms, equipment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11832E-42A8-ACC4-67EE-162CF20EE4C0}"/>
              </a:ext>
            </a:extLst>
          </p:cNvPr>
          <p:cNvSpPr/>
          <p:nvPr/>
        </p:nvSpPr>
        <p:spPr>
          <a:xfrm>
            <a:off x="3473119" y="3407664"/>
            <a:ext cx="254957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FBA747-E30B-5DBF-7269-7D34B35C3981}"/>
              </a:ext>
            </a:extLst>
          </p:cNvPr>
          <p:cNvSpPr txBox="1"/>
          <p:nvPr/>
        </p:nvSpPr>
        <p:spPr>
          <a:xfrm>
            <a:off x="3582847" y="3489960"/>
            <a:ext cx="23301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6181C"/>
                </a:solidFill>
                <a:latin typeface="Aptos"/>
              </a:rPr>
              <a:t>142 turns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C6BF09-86B2-A89A-1931-D9F85348DBEB}"/>
              </a:ext>
            </a:extLst>
          </p:cNvPr>
          <p:cNvSpPr txBox="1"/>
          <p:nvPr/>
        </p:nvSpPr>
        <p:spPr>
          <a:xfrm>
            <a:off x="3582847" y="3489960"/>
            <a:ext cx="23301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6181C"/>
                </a:solidFill>
                <a:latin typeface="Consolas"/>
              </a:rPr>
              <a:t>$0.0013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DE35BD-6C2E-8650-05E5-08985FF66BFF}"/>
              </a:ext>
            </a:extLst>
          </p:cNvPr>
          <p:cNvSpPr txBox="1"/>
          <p:nvPr/>
        </p:nvSpPr>
        <p:spPr>
          <a:xfrm>
            <a:off x="3582847" y="3736848"/>
            <a:ext cx="2330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dirty="0">
                <a:solidFill>
                  <a:srgbClr val="5D6673"/>
                </a:solidFill>
                <a:latin typeface="Aptos"/>
              </a:rPr>
              <a:t>the cheap model (luna) did the work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A4E11B-3792-F8A5-E331-7C5BAE04BE5D}"/>
              </a:ext>
            </a:extLst>
          </p:cNvPr>
          <p:cNvSpPr/>
          <p:nvPr/>
        </p:nvSpPr>
        <p:spPr>
          <a:xfrm>
            <a:off x="6168998" y="3407664"/>
            <a:ext cx="254957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452006-C58B-5FA5-6AD3-89E1E0857C7F}"/>
              </a:ext>
            </a:extLst>
          </p:cNvPr>
          <p:cNvSpPr txBox="1"/>
          <p:nvPr/>
        </p:nvSpPr>
        <p:spPr>
          <a:xfrm>
            <a:off x="6278726" y="3489960"/>
            <a:ext cx="23301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6181C"/>
                </a:solidFill>
                <a:latin typeface="Aptos"/>
              </a:rPr>
              <a:t>47 turns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ED0B34-FBD5-0A52-9FF5-B3511FAE92CF}"/>
              </a:ext>
            </a:extLst>
          </p:cNvPr>
          <p:cNvSpPr txBox="1"/>
          <p:nvPr/>
        </p:nvSpPr>
        <p:spPr>
          <a:xfrm>
            <a:off x="6278726" y="3489960"/>
            <a:ext cx="23301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6181C"/>
                </a:solidFill>
                <a:latin typeface="Consolas"/>
              </a:rPr>
              <a:t>$0.0187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09811B-CF71-B929-7C47-ADF1D4C8CF9B}"/>
              </a:ext>
            </a:extLst>
          </p:cNvPr>
          <p:cNvSpPr txBox="1"/>
          <p:nvPr/>
        </p:nvSpPr>
        <p:spPr>
          <a:xfrm>
            <a:off x="6278726" y="3736848"/>
            <a:ext cx="2330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dirty="0">
                <a:solidFill>
                  <a:srgbClr val="5D6673"/>
                </a:solidFill>
                <a:latin typeface="Aptos"/>
              </a:rPr>
              <a:t>needed the reasoning model (terra) — hard, multi-step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D54FC94-9100-2A69-8558-996346A5E3A0}"/>
              </a:ext>
            </a:extLst>
          </p:cNvPr>
          <p:cNvSpPr/>
          <p:nvPr/>
        </p:nvSpPr>
        <p:spPr>
          <a:xfrm>
            <a:off x="8864877" y="3407664"/>
            <a:ext cx="254957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FB7174-2B4C-4BEF-FE63-80E4CE8EB3A7}"/>
              </a:ext>
            </a:extLst>
          </p:cNvPr>
          <p:cNvSpPr txBox="1"/>
          <p:nvPr/>
        </p:nvSpPr>
        <p:spPr>
          <a:xfrm>
            <a:off x="8974605" y="3489960"/>
            <a:ext cx="23301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6181C"/>
                </a:solidFill>
                <a:latin typeface="Aptos"/>
              </a:rPr>
              <a:t>worst of 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C7D869-766C-B9F4-9C0F-EE69CCDEA08A}"/>
              </a:ext>
            </a:extLst>
          </p:cNvPr>
          <p:cNvSpPr txBox="1"/>
          <p:nvPr/>
        </p:nvSpPr>
        <p:spPr>
          <a:xfrm>
            <a:off x="8974605" y="3489960"/>
            <a:ext cx="23301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B4122A"/>
                </a:solidFill>
                <a:latin typeface="Consolas"/>
              </a:rPr>
              <a:t>$0.0464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098460-69E6-3262-647A-BC0B39454790}"/>
              </a:ext>
            </a:extLst>
          </p:cNvPr>
          <p:cNvSpPr txBox="1"/>
          <p:nvPr/>
        </p:nvSpPr>
        <p:spPr>
          <a:xfrm>
            <a:off x="8974605" y="3736848"/>
            <a:ext cx="2330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D6673"/>
                </a:solidFill>
                <a:latin typeface="Aptos"/>
              </a:rPr>
              <a:t>one long compound question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2E5838-E852-CAED-5F60-183A233A627D}"/>
              </a:ext>
            </a:extLst>
          </p:cNvPr>
          <p:cNvSpPr txBox="1"/>
          <p:nvPr/>
        </p:nvSpPr>
        <p:spPr>
          <a:xfrm>
            <a:off x="777240" y="4224528"/>
            <a:ext cx="1063721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dirty="0">
                <a:solidFill>
                  <a:srgbClr val="B4122A"/>
                </a:solidFill>
                <a:latin typeface="Consolas"/>
              </a:rPr>
              <a:t>THE FOUR STEPS — </a:t>
            </a:r>
            <a:r>
              <a:rPr lang="en-US" sz="1050" b="1" dirty="0">
                <a:solidFill>
                  <a:srgbClr val="B4122A"/>
                </a:solidFill>
                <a:latin typeface="Consolas"/>
              </a:rPr>
              <a:t>COST MONITOR</a:t>
            </a:r>
            <a:r>
              <a:rPr sz="1050" b="1" i="0" dirty="0">
                <a:solidFill>
                  <a:srgbClr val="B4122A"/>
                </a:solidFill>
                <a:latin typeface="Consolas"/>
              </a:rPr>
              <a:t> CHECKED EVERY 15 MINUTES, WHICHEVER TRIGGER FIRES FIRST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19C971-7B4E-314B-A1F4-E38E4E869828}"/>
              </a:ext>
            </a:extLst>
          </p:cNvPr>
          <p:cNvSpPr txBox="1"/>
          <p:nvPr/>
        </p:nvSpPr>
        <p:spPr>
          <a:xfrm>
            <a:off x="905256" y="4425696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6A0AD"/>
                </a:solidFill>
                <a:latin typeface="Consolas"/>
              </a:rPr>
              <a:t>LVL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8F69DA-5EC7-0581-71F3-67B49EE71BB8}"/>
              </a:ext>
            </a:extLst>
          </p:cNvPr>
          <p:cNvSpPr txBox="1"/>
          <p:nvPr/>
        </p:nvSpPr>
        <p:spPr>
          <a:xfrm>
            <a:off x="1737360" y="4425696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6A0AD"/>
                </a:solidFill>
                <a:latin typeface="Consolas"/>
              </a:rPr>
              <a:t>ONE BAD DAY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49AF42-75F2-B501-7B0C-C87546930136}"/>
              </a:ext>
            </a:extLst>
          </p:cNvPr>
          <p:cNvSpPr txBox="1"/>
          <p:nvPr/>
        </p:nvSpPr>
        <p:spPr>
          <a:xfrm>
            <a:off x="3657600" y="4425696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6A0AD"/>
                </a:solidFill>
                <a:latin typeface="Consolas"/>
              </a:rPr>
              <a:t>THE MONTH ($95)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252D92-6099-F7FF-2600-031CBDA63371}"/>
              </a:ext>
            </a:extLst>
          </p:cNvPr>
          <p:cNvSpPr txBox="1"/>
          <p:nvPr/>
        </p:nvSpPr>
        <p:spPr>
          <a:xfrm>
            <a:off x="5577840" y="4425696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6A0AD"/>
                </a:solidFill>
                <a:latin typeface="Consolas"/>
              </a:rPr>
              <a:t>WHAT ACTUALLY CHANGES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556E59-D598-CF39-7CE9-EED7E4644C34}"/>
              </a:ext>
            </a:extLst>
          </p:cNvPr>
          <p:cNvSpPr txBox="1"/>
          <p:nvPr/>
        </p:nvSpPr>
        <p:spPr>
          <a:xfrm>
            <a:off x="9951415" y="4425696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96A0AD"/>
                </a:solidFill>
                <a:latin typeface="Consolas"/>
              </a:rPr>
              <a:t>STUDENTS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280027B-4D42-D9FE-D5DC-1256F76CA44B}"/>
              </a:ext>
            </a:extLst>
          </p:cNvPr>
          <p:cNvSpPr/>
          <p:nvPr/>
        </p:nvSpPr>
        <p:spPr>
          <a:xfrm>
            <a:off x="777240" y="4617720"/>
            <a:ext cx="10637215" cy="365760"/>
          </a:xfrm>
          <a:prstGeom prst="rect">
            <a:avLst/>
          </a:prstGeom>
          <a:solidFill>
            <a:srgbClr val="EEEEEC"/>
          </a:solidFill>
          <a:ln w="9525"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9148B2-4C2F-9D5A-3620-6892D395DF66}"/>
              </a:ext>
            </a:extLst>
          </p:cNvPr>
          <p:cNvSpPr txBox="1"/>
          <p:nvPr/>
        </p:nvSpPr>
        <p:spPr>
          <a:xfrm>
            <a:off x="905256" y="46177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6244"/>
                </a:solidFill>
                <a:latin typeface="Consolas"/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652B58-72CA-5EC4-DA54-1971CB959AEA}"/>
              </a:ext>
            </a:extLst>
          </p:cNvPr>
          <p:cNvSpPr txBox="1"/>
          <p:nvPr/>
        </p:nvSpPr>
        <p:spPr>
          <a:xfrm>
            <a:off x="1737360" y="4681728"/>
            <a:ext cx="1828800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dirty="0">
                <a:solidFill>
                  <a:srgbClr val="16181C"/>
                </a:solidFill>
                <a:latin typeface="Consolas"/>
              </a:rPr>
              <a:t>today ≥ $0.81</a:t>
            </a:r>
            <a:r>
              <a:rPr lang="en-US" sz="1100" b="0" i="0" dirty="0">
                <a:solidFill>
                  <a:srgbClr val="16181C"/>
                </a:solidFill>
                <a:latin typeface="Consolas"/>
              </a:rPr>
              <a:t>(200q)</a:t>
            </a:r>
            <a:endParaRPr sz="1100" b="0" i="0" dirty="0">
              <a:solidFill>
                <a:srgbClr val="16181C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950" b="0" i="0" dirty="0">
                <a:solidFill>
                  <a:srgbClr val="5D6673"/>
                </a:solidFill>
                <a:latin typeface="Consolas"/>
              </a:rPr>
              <a:t>1× daily line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99C579-7D35-7EF5-FC06-42EDF9DFBA92}"/>
              </a:ext>
            </a:extLst>
          </p:cNvPr>
          <p:cNvSpPr txBox="1"/>
          <p:nvPr/>
        </p:nvSpPr>
        <p:spPr>
          <a:xfrm>
            <a:off x="3657600" y="46817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dirty="0">
                <a:solidFill>
                  <a:srgbClr val="16181C"/>
                </a:solidFill>
                <a:latin typeface="Consolas"/>
              </a:rPr>
              <a:t>≥ 70%  = $66.50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CCFD7F-D27B-A870-49B4-79D5D206D48E}"/>
              </a:ext>
            </a:extLst>
          </p:cNvPr>
          <p:cNvSpPr txBox="1"/>
          <p:nvPr/>
        </p:nvSpPr>
        <p:spPr>
          <a:xfrm>
            <a:off x="5577840" y="468172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6181C"/>
                </a:solidFill>
                <a:latin typeface="Aptos"/>
              </a:rPr>
              <a:t>Emails me. Nothing in the app behaves differently.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D0D298-ECFA-B1E3-BBE9-241BB040DA70}"/>
              </a:ext>
            </a:extLst>
          </p:cNvPr>
          <p:cNvSpPr txBox="1"/>
          <p:nvPr/>
        </p:nvSpPr>
        <p:spPr>
          <a:xfrm>
            <a:off x="9951415" y="46177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C6244"/>
                </a:solidFill>
                <a:latin typeface="Consolas"/>
              </a:rPr>
              <a:t>no change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0E0085A-2B2B-6FC2-E2AD-4A0BF819E091}"/>
              </a:ext>
            </a:extLst>
          </p:cNvPr>
          <p:cNvSpPr/>
          <p:nvPr/>
        </p:nvSpPr>
        <p:spPr>
          <a:xfrm>
            <a:off x="777240" y="5020056"/>
            <a:ext cx="1063721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A679966-0EC3-0F0C-8284-1B64453C2A25}"/>
              </a:ext>
            </a:extLst>
          </p:cNvPr>
          <p:cNvSpPr txBox="1"/>
          <p:nvPr/>
        </p:nvSpPr>
        <p:spPr>
          <a:xfrm>
            <a:off x="905256" y="5020056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6244"/>
                </a:solidFill>
                <a:latin typeface="Consolas"/>
              </a:rPr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D4239B-C664-6655-38C3-FE50982CFB81}"/>
              </a:ext>
            </a:extLst>
          </p:cNvPr>
          <p:cNvSpPr txBox="1"/>
          <p:nvPr/>
        </p:nvSpPr>
        <p:spPr>
          <a:xfrm>
            <a:off x="1737360" y="5084064"/>
            <a:ext cx="1828800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dirty="0">
                <a:solidFill>
                  <a:srgbClr val="16181C"/>
                </a:solidFill>
                <a:latin typeface="Consolas"/>
              </a:rPr>
              <a:t>today ≥ $1.21</a:t>
            </a:r>
            <a:r>
              <a:rPr lang="en-US" sz="1100" b="0" i="0" dirty="0">
                <a:solidFill>
                  <a:srgbClr val="16181C"/>
                </a:solidFill>
                <a:latin typeface="Consolas"/>
              </a:rPr>
              <a:t>(300q)</a:t>
            </a:r>
            <a:endParaRPr sz="1100" b="0" i="0" dirty="0">
              <a:solidFill>
                <a:srgbClr val="16181C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950" b="0" i="0" dirty="0">
                <a:solidFill>
                  <a:srgbClr val="5D6673"/>
                </a:solidFill>
                <a:latin typeface="Consolas"/>
              </a:rPr>
              <a:t>1.5× daily line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82A5D4C-AE03-866E-A252-22BC9DB9F82D}"/>
              </a:ext>
            </a:extLst>
          </p:cNvPr>
          <p:cNvSpPr txBox="1"/>
          <p:nvPr/>
        </p:nvSpPr>
        <p:spPr>
          <a:xfrm>
            <a:off x="3657600" y="50840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6181C"/>
                </a:solidFill>
                <a:latin typeface="Consolas"/>
              </a:rPr>
              <a:t>≥ 85%  = $80.75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AC3A2C-0469-D801-28CF-89F3980842DB}"/>
              </a:ext>
            </a:extLst>
          </p:cNvPr>
          <p:cNvSpPr txBox="1"/>
          <p:nvPr/>
        </p:nvSpPr>
        <p:spPr>
          <a:xfrm>
            <a:off x="5577840" y="5084064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 dirty="0">
                <a:solidFill>
                  <a:srgbClr val="16181C"/>
                </a:solidFill>
                <a:latin typeface="Aptos"/>
              </a:rPr>
              <a:t>Reasoning model forced down: terra → luna, 10× cheaper.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 i="0" dirty="0">
                <a:solidFill>
                  <a:srgbClr val="5D6673"/>
                </a:solidFill>
                <a:latin typeface="Aptos"/>
              </a:rPr>
              <a:t>Every feature works; hard questions answered less well.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800829B-2F99-C13B-C49F-7432B04B4220}"/>
              </a:ext>
            </a:extLst>
          </p:cNvPr>
          <p:cNvSpPr txBox="1"/>
          <p:nvPr/>
        </p:nvSpPr>
        <p:spPr>
          <a:xfrm>
            <a:off x="9951415" y="5020056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C6244"/>
                </a:solidFill>
                <a:latin typeface="Consolas"/>
              </a:rPr>
              <a:t>no change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94C3D12-657D-CD05-0D07-2E2DFB21988A}"/>
              </a:ext>
            </a:extLst>
          </p:cNvPr>
          <p:cNvSpPr/>
          <p:nvPr/>
        </p:nvSpPr>
        <p:spPr>
          <a:xfrm>
            <a:off x="777240" y="5532120"/>
            <a:ext cx="10637215" cy="475488"/>
          </a:xfrm>
          <a:prstGeom prst="rect">
            <a:avLst/>
          </a:prstGeom>
          <a:solidFill>
            <a:srgbClr val="EEEEEC"/>
          </a:solidFill>
          <a:ln w="9525"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AE0CFC-2637-9FFE-981F-775E185B8BA0}"/>
              </a:ext>
            </a:extLst>
          </p:cNvPr>
          <p:cNvSpPr txBox="1"/>
          <p:nvPr/>
        </p:nvSpPr>
        <p:spPr>
          <a:xfrm>
            <a:off x="905256" y="5532120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6244"/>
                </a:solidFill>
                <a:latin typeface="Consolas"/>
              </a:rPr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D4F1A6-6F32-F6FD-3D5A-77D684AA2AEB}"/>
              </a:ext>
            </a:extLst>
          </p:cNvPr>
          <p:cNvSpPr txBox="1"/>
          <p:nvPr/>
        </p:nvSpPr>
        <p:spPr>
          <a:xfrm>
            <a:off x="1737360" y="5596128"/>
            <a:ext cx="1828800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dirty="0">
                <a:solidFill>
                  <a:srgbClr val="16181C"/>
                </a:solidFill>
                <a:latin typeface="Consolas"/>
              </a:rPr>
              <a:t>today ≥ $2.02</a:t>
            </a:r>
            <a:r>
              <a:rPr lang="en-US" sz="1100" b="0" i="0" dirty="0">
                <a:solidFill>
                  <a:srgbClr val="16181C"/>
                </a:solidFill>
                <a:latin typeface="Consolas"/>
              </a:rPr>
              <a:t>(500q)</a:t>
            </a:r>
            <a:endParaRPr sz="1100" b="0" i="0" dirty="0">
              <a:solidFill>
                <a:srgbClr val="16181C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950" b="0" i="0" dirty="0">
                <a:solidFill>
                  <a:srgbClr val="5D6673"/>
                </a:solidFill>
                <a:latin typeface="Consolas"/>
              </a:rPr>
              <a:t>2.5× daily line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9F2E656-2435-3CB6-E3C2-027D4C0C2E0B}"/>
              </a:ext>
            </a:extLst>
          </p:cNvPr>
          <p:cNvSpPr txBox="1"/>
          <p:nvPr/>
        </p:nvSpPr>
        <p:spPr>
          <a:xfrm>
            <a:off x="3657600" y="55961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6181C"/>
                </a:solidFill>
                <a:latin typeface="Consolas"/>
              </a:rPr>
              <a:t>≥ 95%  = $90.25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6C86593-266B-C67D-C267-D865F8182D0E}"/>
              </a:ext>
            </a:extLst>
          </p:cNvPr>
          <p:cNvSpPr txBox="1"/>
          <p:nvPr/>
        </p:nvSpPr>
        <p:spPr>
          <a:xfrm>
            <a:off x="5577840" y="5596128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6181C"/>
                </a:solidFill>
                <a:latin typeface="Aptos"/>
              </a:rPr>
              <a:t>Rate limit 20 → 6 a minute; turn cap 80 → 20.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D6673"/>
                </a:solidFill>
                <a:latin typeface="Aptos"/>
              </a:rPr>
              <a:t>A student asking 3–5 never notices; a script does.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843EE4-D4C8-0F67-6D15-10F013A430F1}"/>
              </a:ext>
            </a:extLst>
          </p:cNvPr>
          <p:cNvSpPr txBox="1"/>
          <p:nvPr/>
        </p:nvSpPr>
        <p:spPr>
          <a:xfrm>
            <a:off x="9951415" y="553212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C6244"/>
                </a:solidFill>
                <a:latin typeface="Consolas"/>
              </a:rPr>
              <a:t>no change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74E445A-EF55-8DEA-8C20-0EC3CBFA0606}"/>
              </a:ext>
            </a:extLst>
          </p:cNvPr>
          <p:cNvSpPr/>
          <p:nvPr/>
        </p:nvSpPr>
        <p:spPr>
          <a:xfrm>
            <a:off x="777240" y="6044184"/>
            <a:ext cx="10637215" cy="475488"/>
          </a:xfrm>
          <a:prstGeom prst="rect">
            <a:avLst/>
          </a:prstGeom>
          <a:solidFill>
            <a:srgbClr val="F7E4E7"/>
          </a:solidFill>
          <a:ln w="9525">
            <a:solidFill>
              <a:srgbClr val="D8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C772750-51F2-FBE3-A2E6-696972CF93B2}"/>
              </a:ext>
            </a:extLst>
          </p:cNvPr>
          <p:cNvSpPr txBox="1"/>
          <p:nvPr/>
        </p:nvSpPr>
        <p:spPr>
          <a:xfrm>
            <a:off x="905256" y="6044184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B4122A"/>
                </a:solidFill>
                <a:latin typeface="Consolas"/>
              </a:rPr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769CF63-AD4E-216D-101C-F1B689169ABF}"/>
              </a:ext>
            </a:extLst>
          </p:cNvPr>
          <p:cNvSpPr txBox="1"/>
          <p:nvPr/>
        </p:nvSpPr>
        <p:spPr>
          <a:xfrm>
            <a:off x="1737360" y="610819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6181C"/>
                </a:solidFill>
                <a:latin typeface="Consolas"/>
              </a:rPr>
              <a:t>none —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5D6673"/>
                </a:solidFill>
                <a:latin typeface="Consolas"/>
              </a:rPr>
              <a:t>deliberately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886F422-ABB0-4EEF-E606-43A825BF37E4}"/>
              </a:ext>
            </a:extLst>
          </p:cNvPr>
          <p:cNvSpPr txBox="1"/>
          <p:nvPr/>
        </p:nvSpPr>
        <p:spPr>
          <a:xfrm>
            <a:off x="3657600" y="61081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6181C"/>
                </a:solidFill>
                <a:latin typeface="Consolas"/>
              </a:rPr>
              <a:t>≥ 100% = $95.00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77A544-816C-1D84-BA5A-AE27BCA2ED33}"/>
              </a:ext>
            </a:extLst>
          </p:cNvPr>
          <p:cNvSpPr txBox="1"/>
          <p:nvPr/>
        </p:nvSpPr>
        <p:spPr>
          <a:xfrm>
            <a:off x="5577840" y="6108192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6181C"/>
                </a:solidFill>
                <a:latin typeface="Aptos"/>
              </a:rPr>
              <a:t>New conversations declined, with the Ask Us page.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D6673"/>
                </a:solidFill>
                <a:latin typeface="Aptos"/>
              </a:rPr>
              <a:t>Conversations already open are allowed to finish.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26A1C96-18D6-24CC-B79C-560DDBC81654}"/>
              </a:ext>
            </a:extLst>
          </p:cNvPr>
          <p:cNvSpPr txBox="1"/>
          <p:nvPr/>
        </p:nvSpPr>
        <p:spPr>
          <a:xfrm>
            <a:off x="9951415" y="6044184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B4122A"/>
                </a:solidFill>
                <a:latin typeface="Consolas"/>
              </a:rPr>
              <a:t>visible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14255" y="384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6A0AD"/>
                </a:solidFill>
                <a:latin typeface="Consolas"/>
              </a:rPr>
              <a:t>09  ·  1:15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B4122A"/>
                </a:solidFill>
                <a:latin typeface="Consolas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885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6181C"/>
                </a:solidFill>
                <a:latin typeface="Aptos"/>
              </a:rPr>
              <a:t>It is a public box on the internet. We treated it as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63721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dirty="0">
                <a:solidFill>
                  <a:srgbClr val="16181C"/>
                </a:solidFill>
                <a:latin typeface="Aptos"/>
              </a:rPr>
              <a:t>No login, so no credentials to steal.</a:t>
            </a:r>
            <a:r>
              <a:rPr sz="1400" dirty="0">
                <a:solidFill>
                  <a:srgbClr val="5D6673"/>
                </a:solidFill>
                <a:latin typeface="Aptos"/>
              </a:rPr>
              <a:t>  The bot never sees a student's account.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 dirty="0">
                <a:solidFill>
                  <a:srgbClr val="16181C"/>
                </a:solidFill>
                <a:latin typeface="Aptos"/>
              </a:rPr>
              <a:t>Rate-limited per person,</a:t>
            </a:r>
            <a:r>
              <a:rPr sz="1400" dirty="0">
                <a:solidFill>
                  <a:srgbClr val="5D6673"/>
                </a:solidFill>
                <a:latin typeface="Aptos"/>
              </a:rPr>
              <a:t>  and a repeat offender's socket is dropped rather than served.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 dirty="0">
                <a:solidFill>
                  <a:srgbClr val="16181C"/>
                </a:solidFill>
                <a:latin typeface="Aptos"/>
              </a:rPr>
              <a:t>Room bookings are capped</a:t>
            </a:r>
            <a:r>
              <a:rPr sz="1400" dirty="0">
                <a:solidFill>
                  <a:srgbClr val="5D6673"/>
                </a:solidFill>
                <a:latin typeface="Aptos"/>
              </a:rPr>
              <a:t>  — two per conversation, two per email address per day.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 dirty="0">
                <a:solidFill>
                  <a:srgbClr val="16181C"/>
                </a:solidFill>
                <a:latin typeface="Aptos"/>
              </a:rPr>
              <a:t>Prompt-injection tested:</a:t>
            </a:r>
            <a:r>
              <a:rPr sz="1400" dirty="0">
                <a:solidFill>
                  <a:srgbClr val="5D6673"/>
                </a:solidFill>
                <a:latin typeface="Aptos"/>
              </a:rPr>
              <a:t>  instructions hidden inside a page are treated as text, never as orders.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 dirty="0">
                <a:solidFill>
                  <a:srgbClr val="16181C"/>
                </a:solidFill>
                <a:latin typeface="Aptos"/>
              </a:rPr>
              <a:t>Load tested to the point of refusal,</a:t>
            </a:r>
            <a:r>
              <a:rPr sz="1400" dirty="0">
                <a:solidFill>
                  <a:srgbClr val="5D6673"/>
                </a:solidFill>
                <a:latin typeface="Aptos"/>
              </a:rPr>
              <a:t>  using our own test harness rather than paid traffic.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 dirty="0">
                <a:solidFill>
                  <a:srgbClr val="16181C"/>
                </a:solidFill>
                <a:latin typeface="Aptos"/>
              </a:rPr>
              <a:t>Watched from outside every five minutes.</a:t>
            </a:r>
            <a:r>
              <a:rPr sz="1400" dirty="0">
                <a:solidFill>
                  <a:srgbClr val="5D6673"/>
                </a:solidFill>
                <a:latin typeface="Aptos"/>
              </a:rPr>
              <a:t>  If the service dies and cannot restart itself, I am emailed.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59552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181C"/>
                </a:solidFill>
                <a:latin typeface="Aptos"/>
              </a:rPr>
              <a:t>The worst case is that it stops answering</a:t>
            </a:r>
            <a:r>
              <a:rPr sz="1400">
                <a:solidFill>
                  <a:srgbClr val="5D6673"/>
                </a:solidFill>
                <a:latin typeface="Aptos"/>
              </a:rPr>
              <a:t>. The worst case is not that it leaks something, because it holds nothing worth leaking.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14255" y="384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6A0AD"/>
                </a:solidFill>
                <a:latin typeface="Consolas"/>
              </a:rPr>
              <a:t>10  ·  1:30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B4122A"/>
                </a:solidFill>
                <a:latin typeface="Consolas"/>
              </a:rPr>
              <a:t>KNOWN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885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6181C"/>
                </a:solidFill>
                <a:latin typeface="Aptos"/>
              </a:rPr>
              <a:t>Three open risks, and what stops each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48840"/>
            <a:ext cx="45720" cy="841248"/>
          </a:xfrm>
          <a:prstGeom prst="rect">
            <a:avLst/>
          </a:prstGeom>
          <a:solidFill>
            <a:srgbClr val="8A5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" y="214884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6181C"/>
                </a:solidFill>
                <a:latin typeface="Aptos"/>
              </a:rPr>
              <a:t>The staff dashboard has no single sign-on.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D6673"/>
                </a:solidFill>
                <a:latin typeface="Aptos"/>
              </a:rPr>
              <a:t>Token-gated today. Not student-facing. SSO is on the list, not done.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136392"/>
            <a:ext cx="45720" cy="841248"/>
          </a:xfrm>
          <a:prstGeom prst="rect">
            <a:avLst/>
          </a:prstGeom>
          <a:solidFill>
            <a:srgbClr val="8A5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2" y="3136392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6181C"/>
                </a:solidFill>
                <a:latin typeface="Aptos"/>
              </a:rPr>
              <a:t>Room bookings are not identity-verified.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D6673"/>
                </a:solidFill>
                <a:latin typeface="Aptos"/>
              </a:rPr>
              <a:t>A Miami address is required and caps are enforced, but the address is not confirmed — a fake booking is possible.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123944"/>
            <a:ext cx="45720" cy="841248"/>
          </a:xfrm>
          <a:prstGeom prst="rect">
            <a:avLst/>
          </a:prstGeom>
          <a:solidFill>
            <a:srgbClr val="8A5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4123944"/>
            <a:ext cx="10271455" cy="542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 dirty="0">
                <a:solidFill>
                  <a:srgbClr val="16181C"/>
                </a:solidFill>
                <a:latin typeface="Aptos"/>
              </a:rPr>
              <a:t>Quality is 74% on our own hard test set</a:t>
            </a:r>
            <a:r>
              <a:rPr lang="en-US" sz="1500" b="1" dirty="0">
                <a:solidFill>
                  <a:srgbClr val="16181C"/>
                </a:solidFill>
                <a:latin typeface="Aptos"/>
              </a:rPr>
              <a:t>. </a:t>
            </a:r>
            <a:r>
              <a:rPr lang="en-US" sz="1500" b="1" i="0" dirty="0">
                <a:solidFill>
                  <a:srgbClr val="16181C"/>
                </a:solidFill>
                <a:latin typeface="Aptos"/>
              </a:rPr>
              <a:t>LLM has its own instability.</a:t>
            </a:r>
            <a:endParaRPr sz="1500" b="1" i="0" dirty="0">
              <a:solidFill>
                <a:srgbClr val="16181C"/>
              </a:solidFill>
              <a:latin typeface="Aptos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50" b="0" i="0" dirty="0">
                <a:solidFill>
                  <a:srgbClr val="5D6673"/>
                </a:solidFill>
                <a:latin typeface="Aptos"/>
              </a:rPr>
              <a:t>The quality is </a:t>
            </a:r>
            <a:r>
              <a:rPr sz="1150" b="0" i="0" dirty="0">
                <a:solidFill>
                  <a:srgbClr val="5D6673"/>
                </a:solidFill>
                <a:latin typeface="Aptos"/>
              </a:rPr>
              <a:t>not 100%. Of the failures, almost all are incomplete answers rather than wrong ones — 2 wrong out of 234.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257800"/>
            <a:ext cx="10637215" cy="9525"/>
          </a:xfrm>
          <a:prstGeom prst="rect">
            <a:avLst/>
          </a:prstGeom>
          <a:solidFill>
            <a:srgbClr val="D8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440680"/>
            <a:ext cx="10637215" cy="101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 dirty="0">
                <a:solidFill>
                  <a:srgbClr val="B4122A"/>
                </a:solidFill>
                <a:latin typeface="Consolas"/>
              </a:rPr>
              <a:t>THREE BRAKES, ALL TESTED</a:t>
            </a:r>
          </a:p>
          <a:p>
            <a:pPr>
              <a:lnSpc>
                <a:spcPct val="120000"/>
              </a:lnSpc>
            </a:pPr>
            <a:r>
              <a:rPr sz="1250" b="1" dirty="0">
                <a:solidFill>
                  <a:srgbClr val="16181C"/>
                </a:solidFill>
                <a:latin typeface="Aptos"/>
              </a:rPr>
              <a:t>One click to shut the bot off</a:t>
            </a:r>
            <a:r>
              <a:rPr sz="1250" dirty="0">
                <a:solidFill>
                  <a:srgbClr val="5D6673"/>
                </a:solidFill>
                <a:latin typeface="Aptos"/>
              </a:rPr>
              <a:t> — from the staff page, no deploy. </a:t>
            </a:r>
            <a:br>
              <a:rPr lang="en-US" sz="1250" dirty="0">
                <a:solidFill>
                  <a:srgbClr val="5D6673"/>
                </a:solidFill>
                <a:latin typeface="Aptos"/>
              </a:rPr>
            </a:br>
            <a:r>
              <a:rPr sz="1250" b="1" dirty="0">
                <a:solidFill>
                  <a:srgbClr val="16181C"/>
                </a:solidFill>
                <a:latin typeface="Aptos"/>
              </a:rPr>
              <a:t>One command to roll back</a:t>
            </a:r>
            <a:r>
              <a:rPr sz="1250" dirty="0">
                <a:solidFill>
                  <a:srgbClr val="5D6673"/>
                </a:solidFill>
                <a:latin typeface="Aptos"/>
              </a:rPr>
              <a:t> — the previous index is kept, not overwritten. </a:t>
            </a:r>
            <a:br>
              <a:rPr lang="en-US" sz="1250" dirty="0">
                <a:solidFill>
                  <a:srgbClr val="5D6673"/>
                </a:solidFill>
                <a:latin typeface="Aptos"/>
              </a:rPr>
            </a:br>
            <a:r>
              <a:rPr sz="1250" b="1" dirty="0">
                <a:solidFill>
                  <a:srgbClr val="16181C"/>
                </a:solidFill>
                <a:latin typeface="Aptos"/>
              </a:rPr>
              <a:t>Remove the entry point</a:t>
            </a:r>
            <a:r>
              <a:rPr sz="1250" dirty="0">
                <a:solidFill>
                  <a:srgbClr val="5D6673"/>
                </a:solidFill>
                <a:latin typeface="Aptos"/>
              </a:rPr>
              <a:t> — the widget comes off the site and nothing reaches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14255" y="384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6A0AD"/>
                </a:solidFill>
                <a:latin typeface="Consolas"/>
              </a:rPr>
              <a:t>11  ·  1:30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B4122A"/>
                </a:solidFill>
                <a:latin typeface="Consolas"/>
              </a:rPr>
              <a:t>MY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88575" cy="58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 dirty="0">
                <a:solidFill>
                  <a:srgbClr val="16181C"/>
                </a:solidFill>
                <a:latin typeface="Aptos"/>
              </a:rPr>
              <a:t>Let it answer after hours, starting </a:t>
            </a:r>
            <a:r>
              <a:rPr lang="en-US" sz="3400" b="1" dirty="0">
                <a:solidFill>
                  <a:srgbClr val="16181C"/>
                </a:solidFill>
                <a:latin typeface="Aptos"/>
              </a:rPr>
              <a:t>ASAP</a:t>
            </a:r>
            <a:r>
              <a:rPr sz="3400" b="1" i="0" dirty="0">
                <a:solidFill>
                  <a:srgbClr val="16181C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B4122A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2167128"/>
            <a:ext cx="10058400" cy="56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600" b="1" i="0" dirty="0">
                <a:solidFill>
                  <a:srgbClr val="C00000"/>
                </a:solidFill>
                <a:latin typeface="Aptos"/>
              </a:rPr>
              <a:t>A beta launch in Summer.</a:t>
            </a:r>
            <a:endParaRPr sz="1600" b="1" i="0" dirty="0">
              <a:solidFill>
                <a:srgbClr val="C00000"/>
              </a:solidFill>
              <a:latin typeface="Aptos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200" b="0" i="0" dirty="0">
                <a:solidFill>
                  <a:srgbClr val="5D6673"/>
                </a:solidFill>
                <a:latin typeface="Aptos"/>
              </a:rPr>
              <a:t>Lowest traffic of the year, safest place to find what 1,202 automated checks could not</a:t>
            </a:r>
            <a:endParaRPr sz="1200" b="0" i="0" dirty="0">
              <a:solidFill>
                <a:srgbClr val="5D6673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B4122A"/>
                </a:solidFill>
                <a:latin typeface="Consola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3127248"/>
            <a:ext cx="10058400" cy="56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600" b="1" i="0" dirty="0">
                <a:solidFill>
                  <a:srgbClr val="16181C"/>
                </a:solidFill>
                <a:latin typeface="Aptos"/>
              </a:rPr>
              <a:t>Some</a:t>
            </a:r>
            <a:r>
              <a:rPr sz="1600" b="1" i="0" dirty="0">
                <a:solidFill>
                  <a:srgbClr val="16181C"/>
                </a:solidFill>
                <a:latin typeface="Aptos"/>
              </a:rPr>
              <a:t> month</a:t>
            </a:r>
            <a:r>
              <a:rPr lang="en-US" sz="1600" b="1" i="0" dirty="0">
                <a:solidFill>
                  <a:srgbClr val="16181C"/>
                </a:solidFill>
                <a:latin typeface="Aptos"/>
              </a:rPr>
              <a:t>ly budget ($100/m, it rolls over)</a:t>
            </a:r>
            <a:endParaRPr sz="1600" b="1" i="0" dirty="0">
              <a:solidFill>
                <a:srgbClr val="16181C"/>
              </a:solidFill>
              <a:latin typeface="Aptos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0" i="0" dirty="0">
                <a:solidFill>
                  <a:srgbClr val="5D6673"/>
                </a:solidFill>
                <a:latin typeface="Aptos"/>
              </a:rPr>
              <a:t>With the ceiling already enforcing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B4122A"/>
                </a:solidFill>
                <a:latin typeface="Consola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4087368"/>
            <a:ext cx="10058400" cy="56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US" sz="1600" b="1" dirty="0">
                <a:solidFill>
                  <a:srgbClr val="16181C"/>
                </a:solidFill>
                <a:latin typeface="Aptos"/>
              </a:rPr>
              <a:t>Let real questions hit the road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200" dirty="0">
                <a:solidFill>
                  <a:srgbClr val="5D6673"/>
                </a:solidFill>
                <a:latin typeface="Aptos"/>
              </a:rPr>
              <a:t>A thousand test questions taught me less than one week of students will.</a:t>
            </a:r>
            <a:endParaRPr sz="1200" b="0" i="0" dirty="0">
              <a:solidFill>
                <a:srgbClr val="5D667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559552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dirty="0">
                <a:solidFill>
                  <a:srgbClr val="5D6673"/>
                </a:solidFill>
                <a:latin typeface="Aptos"/>
              </a:rPr>
              <a:t>Every week we wait is </a:t>
            </a:r>
            <a:r>
              <a:rPr sz="1400" b="1" dirty="0">
                <a:solidFill>
                  <a:srgbClr val="16181C"/>
                </a:solidFill>
                <a:latin typeface="Aptos"/>
              </a:rPr>
              <a:t>a week of questions we cannot see</a:t>
            </a:r>
            <a:r>
              <a:rPr sz="1400" dirty="0">
                <a:solidFill>
                  <a:srgbClr val="5D6673"/>
                </a:solidFill>
                <a:latin typeface="Aptos"/>
              </a:rPr>
              <a:t>, and a week closer to the semester when there are far more of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1729</Words>
  <Application>Microsoft Macintosh PowerPoint</Application>
  <PresentationFormat>Widescreen</PresentationFormat>
  <Paragraphs>181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Qu, Meng</cp:lastModifiedBy>
  <cp:revision>4</cp:revision>
  <dcterms:created xsi:type="dcterms:W3CDTF">2013-01-27T09:14:16Z</dcterms:created>
  <dcterms:modified xsi:type="dcterms:W3CDTF">2026-08-05T22:57:42Z</dcterms:modified>
  <cp:category/>
</cp:coreProperties>
</file>